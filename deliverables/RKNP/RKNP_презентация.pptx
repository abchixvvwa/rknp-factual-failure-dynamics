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16a025f0314b17" /><Relationship Type="http://schemas.openxmlformats.org/officeDocument/2006/relationships/extended-properties" Target="/docProps/app.xml" Id="R7ecffb99936342db" /><Relationship Type="http://schemas.openxmlformats.org/officeDocument/2006/relationships/officeDocument" Target="/ppt/presentation.xml" Id="R6e955798967248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09cda773924cc1"/>
  </p:sldMasterIdLst>
  <p:notesMasterIdLst>
    <p:notesMasterId xmlns:r="http://schemas.openxmlformats.org/officeDocument/2006/relationships" r:id="R395436fdf3f440b6"/>
  </p:notesMasterIdLst>
  <p:sldIdLst>
    <p:sldId xmlns:r="http://schemas.openxmlformats.org/officeDocument/2006/relationships" id="256" r:id="Raed5425336224011"/>
    <p:sldId xmlns:r="http://schemas.openxmlformats.org/officeDocument/2006/relationships" id="257" r:id="R83256a863a0944a3"/>
    <p:sldId xmlns:r="http://schemas.openxmlformats.org/officeDocument/2006/relationships" id="258" r:id="R6b2d4de8ae4a4f54"/>
    <p:sldId xmlns:r="http://schemas.openxmlformats.org/officeDocument/2006/relationships" id="259" r:id="R3c128073032f4d2e"/>
    <p:sldId xmlns:r="http://schemas.openxmlformats.org/officeDocument/2006/relationships" id="260" r:id="R55c1c2a811284e06"/>
    <p:sldId xmlns:r="http://schemas.openxmlformats.org/officeDocument/2006/relationships" id="261" r:id="R144a355bfdc54377"/>
    <p:sldId xmlns:r="http://schemas.openxmlformats.org/officeDocument/2006/relationships" id="262" r:id="Raa49a2fa750145d7"/>
    <p:sldId xmlns:r="http://schemas.openxmlformats.org/officeDocument/2006/relationships" id="263" r:id="R4b8682d477a7466b"/>
    <p:sldId xmlns:r="http://schemas.openxmlformats.org/officeDocument/2006/relationships" id="264" r:id="Rbab9a26eada54b78"/>
    <p:sldId xmlns:r="http://schemas.openxmlformats.org/officeDocument/2006/relationships" id="265" r:id="R146755a9fb9c4803"/>
    <p:sldId xmlns:r="http://schemas.openxmlformats.org/officeDocument/2006/relationships" id="266" r:id="R06ce90ea10a3468a"/>
    <p:sldId xmlns:r="http://schemas.openxmlformats.org/officeDocument/2006/relationships" id="267" r:id="R8800e742194c425c"/>
    <p:sldId xmlns:r="http://schemas.openxmlformats.org/officeDocument/2006/relationships" id="268" r:id="Rb2d6c901843841a9"/>
    <p:sldId xmlns:r="http://schemas.openxmlformats.org/officeDocument/2006/relationships" id="269" r:id="Raa82d6ee92b74ff9"/>
    <p:sldId xmlns:r="http://schemas.openxmlformats.org/officeDocument/2006/relationships" id="270" r:id="Rb228085a392345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f28f18aedb4c31" /><Relationship Type="http://schemas.openxmlformats.org/officeDocument/2006/relationships/slideMaster" Target="/ppt/slideMasters/slideMaster1.xml" Id="R4f09cda773924cc1" /><Relationship Type="http://schemas.openxmlformats.org/officeDocument/2006/relationships/notesMaster" Target="/ppt/notesMasters/notesMaster1.xml" Id="R395436fdf3f440b6" /><Relationship Type="http://schemas.openxmlformats.org/officeDocument/2006/relationships/presProps" Target="/ppt/presProps.xml" Id="R1cca28f556f44b97" /><Relationship Type="http://schemas.openxmlformats.org/officeDocument/2006/relationships/tableStyles" Target="/ppt/tableStyles.xml" Id="R51b57a7cb0ad4a15" /><Relationship Type="http://schemas.openxmlformats.org/officeDocument/2006/relationships/slide" Target="/ppt/slides/slide1.xml" Id="Raed5425336224011" /><Relationship Type="http://schemas.openxmlformats.org/officeDocument/2006/relationships/slide" Target="/ppt/slides/slide2.xml" Id="R83256a863a0944a3" /><Relationship Type="http://schemas.openxmlformats.org/officeDocument/2006/relationships/slide" Target="/ppt/slides/slide3.xml" Id="R6b2d4de8ae4a4f54" /><Relationship Type="http://schemas.openxmlformats.org/officeDocument/2006/relationships/slide" Target="/ppt/slides/slide4.xml" Id="R3c128073032f4d2e" /><Relationship Type="http://schemas.openxmlformats.org/officeDocument/2006/relationships/slide" Target="/ppt/slides/slide5.xml" Id="R55c1c2a811284e06" /><Relationship Type="http://schemas.openxmlformats.org/officeDocument/2006/relationships/slide" Target="/ppt/slides/slide6.xml" Id="R144a355bfdc54377" /><Relationship Type="http://schemas.openxmlformats.org/officeDocument/2006/relationships/slide" Target="/ppt/slides/slide7.xml" Id="Raa49a2fa750145d7" /><Relationship Type="http://schemas.openxmlformats.org/officeDocument/2006/relationships/slide" Target="/ppt/slides/slide8.xml" Id="R4b8682d477a7466b" /><Relationship Type="http://schemas.openxmlformats.org/officeDocument/2006/relationships/slide" Target="/ppt/slides/slide9.xml" Id="Rbab9a26eada54b78" /><Relationship Type="http://schemas.openxmlformats.org/officeDocument/2006/relationships/slide" Target="/ppt/slides/slide10.xml" Id="R146755a9fb9c4803" /><Relationship Type="http://schemas.openxmlformats.org/officeDocument/2006/relationships/slide" Target="/ppt/slides/slide11.xml" Id="R06ce90ea10a3468a" /><Relationship Type="http://schemas.openxmlformats.org/officeDocument/2006/relationships/slide" Target="/ppt/slides/slide12.xml" Id="R8800e742194c425c" /><Relationship Type="http://schemas.openxmlformats.org/officeDocument/2006/relationships/slide" Target="/ppt/slides/slide13.xml" Id="Rb2d6c901843841a9" /><Relationship Type="http://schemas.openxmlformats.org/officeDocument/2006/relationships/slide" Target="/ppt/slides/slide14.xml" Id="Raa82d6ee92b74ff9" /><Relationship Type="http://schemas.openxmlformats.org/officeDocument/2006/relationships/slide" Target="/ppt/slides/slide15.xml" Id="Rb228085a392345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f7f990f23043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3c992515234d3a" /><Relationship Type="http://schemas.openxmlformats.org/officeDocument/2006/relationships/notesMaster" Target="/ppt/notesMasters/notesMaster1.xml" Id="R482045d49fda46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9e8c67c39741b2" /><Relationship Type="http://schemas.openxmlformats.org/officeDocument/2006/relationships/notesMaster" Target="/ppt/notesMasters/notesMaster1.xml" Id="R1f4fcfd9020243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f26482f4e94364" /><Relationship Type="http://schemas.openxmlformats.org/officeDocument/2006/relationships/notesMaster" Target="/ppt/notesMasters/notesMaster1.xml" Id="R9b0b8ca12b6d42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021b5c9cad4cc1" /><Relationship Type="http://schemas.openxmlformats.org/officeDocument/2006/relationships/notesMaster" Target="/ppt/notesMasters/notesMaster1.xml" Id="R1a7d92f00fbf4b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edf86fd3b44963" /><Relationship Type="http://schemas.openxmlformats.org/officeDocument/2006/relationships/notesMaster" Target="/ppt/notesMasters/notesMaster1.xml" Id="Rf8bb8239b8874f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4e85663a8b4113" /><Relationship Type="http://schemas.openxmlformats.org/officeDocument/2006/relationships/notesMaster" Target="/ppt/notesMasters/notesMaster1.xml" Id="R8d03ec6e52134c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f90c8850644e69" /><Relationship Type="http://schemas.openxmlformats.org/officeDocument/2006/relationships/notesMaster" Target="/ppt/notesMasters/notesMaster1.xml" Id="Reb102796f67844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d1eb6a83cf4799" /><Relationship Type="http://schemas.openxmlformats.org/officeDocument/2006/relationships/notesMaster" Target="/ppt/notesMasters/notesMaster1.xml" Id="Rfc19bf5694c24a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3950a9d3b24922" /><Relationship Type="http://schemas.openxmlformats.org/officeDocument/2006/relationships/notesMaster" Target="/ppt/notesMasters/notesMaster1.xml" Id="R3e71d5a839b54c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fe2f512c7a4195" /><Relationship Type="http://schemas.openxmlformats.org/officeDocument/2006/relationships/notesMaster" Target="/ppt/notesMasters/notesMaster1.xml" Id="Rda88e3a5ba444e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42165721204dc1" /><Relationship Type="http://schemas.openxmlformats.org/officeDocument/2006/relationships/notesMaster" Target="/ppt/notesMasters/notesMaster1.xml" Id="R357fa5f444f04e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806a4985fc4ac5" /><Relationship Type="http://schemas.openxmlformats.org/officeDocument/2006/relationships/notesMaster" Target="/ppt/notesMasters/notesMaster1.xml" Id="R157ed38a749147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b92abe81c84e15" /><Relationship Type="http://schemas.openxmlformats.org/officeDocument/2006/relationships/notesMaster" Target="/ppt/notesMasters/notesMaster1.xml" Id="R8666accf1bd648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d10351d7a34267" /><Relationship Type="http://schemas.openxmlformats.org/officeDocument/2006/relationships/notesMaster" Target="/ppt/notesMasters/notesMaster1.xml" Id="Rbedac829bf3947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9e3a4f9f784253" /><Relationship Type="http://schemas.openxmlformats.org/officeDocument/2006/relationships/notesMaster" Target="/ppt/notesMasters/notesMaster1.xml" Id="R2b8481d07ceb42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 создана специально для проекта. Вступление: языковая убедительность ответа не гарантирует его фактическую верность.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Реальный тип ошибки из ручной разметки: вместо Apollo 8 модель называла Apollo 11. Правило проекта: оценивается весь ответ, включая пояснения.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H1 считается подтверждённой только после сравнения на locked test. Предварительная factual-разметка сама по себе не доказывает качество детектора.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Формула: 100 фактов × 3 языка × 3 модели × (1 target + 5 stochastic samples) = 5400 ответов.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Состав facts.csv: по 16 обычных фактов в пяти категориях и 20 вопросов с ложной предпосылкой. Все 100 фактов прошли человеческую проверку.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Основной замысел опирается на semantic entropy и self-consistency. Источники: Farquhar et al., Nature 2024, DOI 10.1038/s41586-024-07421-0; Wang et al., ICLR 2023, openreview.net/forum?id=1PL1NIMMrw.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results/reports/pilot100_v1_preliminary_factual.json и инженерные отчёты проекта. 48 invalid/truncated относятся к сырым ответам; после агрегации 11 targets остались unresolved.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Предварительная factual-разметка. Ошибки/оценённые targets: EN 44/298, RU 53/297, KK 78/294. Это описание пилота, не итоговая оценка детектора.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Предварительная factual-разметка: Qwen 3.6 44/299; Qwen 3.8 62/293; GPT-OSS 20B 69/297.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Ошибки/оценённые: science 2/144; geography 8/144; history 16/144; culture 19/138; false premise 56/177; Kazakhstan 74/142.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results/reports/pilot100_v1_test_metrics.json. Selected model: dynamic_logistic, raw calibration, threshold 0.40157; test errors 24/131.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Парное сравнение выполнено на тех же 131 test cases с resampling по fact_id. CI не включает ноль; вывод относится к pilot100_v1.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Инженерная часть проекта: стабильные составные ключи, SQLite-журнал, экспоненциальные повторы, хэши входов и отдельные версии протокола.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Завершено: 866 semantic cases, 832 feature rows, train/validation model selection и однократный locked test. Остался отдельный научный gate: blinded human review 200 semantic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тезис: pilot поддерживает гипотезу о полезности динамических признаков. Вывод ограничен этим benchmark; semantic judge требует отдельной человеческой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a7fc64cf045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306b65067448e2" /><Relationship Type="http://schemas.openxmlformats.org/officeDocument/2006/relationships/slideLayout" Target="/ppt/slideLayouts/slideLayout1.xml" Id="Rdce173478d6242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e173478d6242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1173670c44a33" /><Relationship Type="http://schemas.openxmlformats.org/officeDocument/2006/relationships/image" Target="/ppt/media/image.png" Id="R18201c138b9d4f70" /><Relationship Type="http://schemas.openxmlformats.org/officeDocument/2006/relationships/notesSlide" Target="/ppt/notesSlides/notesSlide1.xml" Id="R85419b86a5dc41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edf00cf044efd" /><Relationship Type="http://schemas.openxmlformats.org/officeDocument/2006/relationships/notesSlide" Target="/ppt/notesSlides/notesSlide2.xml" Id="R542d854a026d42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c29aedce04c2d" /><Relationship Type="http://schemas.openxmlformats.org/officeDocument/2006/relationships/notesSlide" Target="/ppt/notesSlides/notesSlide3.xml" Id="R2fc5d9c97dba47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c19d04ddf4667" /><Relationship Type="http://schemas.openxmlformats.org/officeDocument/2006/relationships/notesSlide" Target="/ppt/notesSlides/notesSlide4.xml" Id="R861e21cf307e4c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ec188a1054970" /><Relationship Type="http://schemas.openxmlformats.org/officeDocument/2006/relationships/notesSlide" Target="/ppt/notesSlides/notesSlide5.xml" Id="R5a583cd9eff649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ab92e5cc84898" /><Relationship Type="http://schemas.openxmlformats.org/officeDocument/2006/relationships/notesSlide" Target="/ppt/notesSlides/notesSlide6.xml" Id="R1e97540f7c8a4d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b09ca34114d82" /><Relationship Type="http://schemas.openxmlformats.org/officeDocument/2006/relationships/notesSlide" Target="/ppt/notesSlides/notesSlide7.xml" Id="R9d2f4c1e455345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00f296d7a4421" /><Relationship Type="http://schemas.openxmlformats.org/officeDocument/2006/relationships/chart" Target="/ppt/slides/charts/chart1.xml" Id="Ra9bf3ffad39f442b" /><Relationship Type="http://schemas.openxmlformats.org/officeDocument/2006/relationships/notesSlide" Target="/ppt/notesSlides/notesSlide8.xml" Id="R49b0e141fc4f4b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e569141fc4f35" /><Relationship Type="http://schemas.openxmlformats.org/officeDocument/2006/relationships/chart" Target="/ppt/slides/charts/chart2.xml" Id="Rffdac9b859434324" /><Relationship Type="http://schemas.openxmlformats.org/officeDocument/2006/relationships/notesSlide" Target="/ppt/notesSlides/notesSlide9.xml" Id="Rb8119057a0d24f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7e334606a4ade" /><Relationship Type="http://schemas.openxmlformats.org/officeDocument/2006/relationships/chart" Target="/ppt/slides/charts/chart3.xml" Id="R2dbab3e3ad204679" /><Relationship Type="http://schemas.openxmlformats.org/officeDocument/2006/relationships/notesSlide" Target="/ppt/notesSlides/notesSlide10.xml" Id="Ra43659eaecbd47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e1d7ce2f74b3e" /><Relationship Type="http://schemas.openxmlformats.org/officeDocument/2006/relationships/notesSlide" Target="/ppt/notesSlides/notesSlide11.xml" Id="Rcf5f0a18af0645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e768ead0b4b23" /><Relationship Type="http://schemas.openxmlformats.org/officeDocument/2006/relationships/notesSlide" Target="/ppt/notesSlides/notesSlide12.xml" Id="R340abaacffc046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40c79d27147ae" /><Relationship Type="http://schemas.openxmlformats.org/officeDocument/2006/relationships/notesSlide" Target="/ppt/notesSlides/notesSlide13.xml" Id="R6f44ed9e681642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9cbe3bf9b460f" /><Relationship Type="http://schemas.openxmlformats.org/officeDocument/2006/relationships/notesSlide" Target="/ppt/notesSlides/notesSlide14.xml" Id="Reac8d2820ffc4f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f198b7d774bc1" /><Relationship Type="http://schemas.openxmlformats.org/officeDocument/2006/relationships/notesSlide" Target="/ppt/notesSlides/notesSlide15.xml" Id="R56d1ffd655e3458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Доля фактических ошибок по языку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421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Ошибки</c:v>
          </c:tx>
          <c:spPr>
            <a:solidFill xmlns:a="http://schemas.openxmlformats.org/drawingml/2006/main">
              <a:srgbClr val="2F6BFF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FF6B6B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EN</c:v>
                </c:pt>
                <c:pt idx="1">
                  <c:v>RU</c:v>
                </c:pt>
                <c:pt idx="2">
                  <c:v>KK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14.77</c:v>
                </c:pt>
                <c:pt idx="1">
                  <c:v>17.85</c:v>
                </c:pt>
                <c:pt idx="2">
                  <c:v>26.53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421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F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DE4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Доля фактических ошибок по модели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421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Ошибки</c:v>
          </c:tx>
          <c:spPr>
            <a:solidFill xmlns:a="http://schemas.openxmlformats.org/drawingml/2006/main">
              <a:srgbClr val="2F6B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EC4B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F6B6B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Qwen 3.6</c:v>
                </c:pt>
                <c:pt idx="1">
                  <c:v>Qwen 3.8</c:v>
                </c:pt>
                <c:pt idx="2">
                  <c:v>GPT-OSS 20B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14.72</c:v>
                </c:pt>
                <c:pt idx="1">
                  <c:v>21.16</c:v>
                </c:pt>
                <c:pt idx="2">
                  <c:v>23.23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421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F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DE4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Доля фактических ошибок по категории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421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Ошибки</c:v>
          </c:tx>
          <c:spPr>
            <a:solidFill xmlns:a="http://schemas.openxmlformats.org/drawingml/2006/main">
              <a:srgbClr val="2F6BFF"/>
            </a:solidFill>
          </c:spPr>
          <c:dPt>
            <c:idx val="4"/>
            <c:invertIfNegative val="0"/>
            <c:spPr>
              <a:solidFill xmlns:a="http://schemas.openxmlformats.org/drawingml/2006/main">
                <a:srgbClr val="FFBF47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FF6B6B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Наука</c:v>
                </c:pt>
                <c:pt idx="1">
                  <c:v>География</c:v>
                </c:pt>
                <c:pt idx="2">
                  <c:v>История</c:v>
                </c:pt>
                <c:pt idx="3">
                  <c:v>Культура</c:v>
                </c:pt>
                <c:pt idx="4">
                  <c:v>Ложная предпосылка</c:v>
                </c:pt>
                <c:pt idx="5">
                  <c:v>Казахстан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1.39</c:v>
                </c:pt>
                <c:pt idx="1">
                  <c:v>5.56</c:v>
                </c:pt>
                <c:pt idx="2">
                  <c:v>11.11</c:v>
                </c:pt>
                <c:pt idx="3">
                  <c:v>13.77</c:v>
                </c:pt>
                <c:pt idx="4">
                  <c:v>31.64</c:v>
                </c:pt>
                <c:pt idx="5">
                  <c:v>52.11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1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F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DE4E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6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01c138b9d4f7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117A6-DDED-4C84-9FD0-EA8A1AF3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9E55D-5ED6-42F3-8DE5-8E0428E0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52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5C69A-1CAD-4118-BACD-B1076B7C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81050"/>
            <a:ext cx="2324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05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6C8B0-0F1B-49F0-AD80-6B5964A7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C4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C4B6"/>
                </a:solidFill>
                <a:latin typeface="Arial"/>
                <a:ea typeface="Arial"/>
                <a:cs typeface="Arial"/>
              </a:rPr>
              <a:t>НАУЧНЫЙ ПРОЕКТ · РКНП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06E62-980E-4A1E-A6A4-18A76DBD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71600"/>
            <a:ext cx="4762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меняется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семантическая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уверенность 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CE43B-9363-47B5-B8C3-51A98739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6D3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6D3EC"/>
                </a:solidFill>
                <a:latin typeface="Arial"/>
                <a:ea typeface="Arial"/>
                <a:cs typeface="Arial"/>
              </a:rPr>
              <a:t>Предсказание фактических ошибок по динамике согласия ответов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EEAC1-5D75-495E-9AD1-C01DB4C2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 фактов  ·  3 языка  ·  3 модели  ·  5400 ответов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24CDD-4178-49FD-BA00-DF5AD7EF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Саурыков Ихсан Азаматович · 12D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A2910-8075-4348-8714-BEDABFAC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38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6D3E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6D3EC"/>
                </a:solidFill>
                <a:latin typeface="Arial"/>
                <a:ea typeface="Arial"/>
                <a:cs typeface="Arial"/>
              </a:rPr>
              <a:t>Руководитель: Авдюнин Николай Владимирович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64CB8-6309-469D-91EA-7ABFBE97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484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0B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1A0BE"/>
                </a:solidFill>
                <a:latin typeface="Arial"/>
                <a:ea typeface="Arial"/>
                <a:cs typeface="Arial"/>
              </a:rPr>
              <a:t>Назарбаевская Интеллектуальная Школа физико-математического направления города Талдыкорган</a:t>
            </a:r>
          </a:p>
          <a:p xmlns:a="http://schemas.openxmlformats.org/drawingml/2006/main">
            <a:pPr algn="l">
              <a:defRPr sz="675" b="0">
                <a:solidFill>
                  <a:srgbClr val="91A0B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1A0BE"/>
                </a:solidFill>
                <a:latin typeface="Arial"/>
                <a:ea typeface="Arial"/>
                <a:cs typeface="Arial"/>
              </a:rPr>
              <a:t>Секция: Информационные системы и технологии. Вычислительная нейронаука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86333-C076-4929-BC9B-84807FB8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0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1A0BE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41328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DBD6B-ED26-41FE-BBA5-BB5F7789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5A472-A2BF-4CFD-8EFF-76C7B08C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214CA-8428-4837-8F41-CFD8E3D1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Уверенный ответ может быть неверным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099F7-0569-41AB-AB59-0E2F51FE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95F41-5E17-4027-BF69-09F718A7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53AED-63DA-45D4-9AF2-8C46EE0F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Apollo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440E2-E905-44F1-9676-FF309FF2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ответ модели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22450-61EA-4BA6-8BC4-1940935C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8212D-EC23-4B92-A586-F16574D6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Apollo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C4006-652D-410E-A22E-A3D48F11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860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эталонный ответ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7DD60-16FC-4105-8DFD-BC25A751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47750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DDB5B-D96B-4004-8D9B-0C3095F3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Один правильный фрагмент не спасает ответ, если внутри есть ложное пояснение, неверная дата или противоречие.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6DB01-04D1-4633-8FE0-344F0307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Поэтому в проекте оценивается весь ответ целиком.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1FE46-ABE7-426B-BB25-BA586818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2552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808FF-636C-4435-B624-098AF393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WHOLE-ANSWER EVALUATION</a:t>
            </a:r>
          </a:p>
        </p:txBody>
      </p:sp>
    </p:spTree>
    <p:extLst>
      <p:ext uri="{BB962C8B-B14F-4D97-AF65-F5344CB8AC3E}">
        <p14:creationId xmlns:p14="http://schemas.microsoft.com/office/powerpoint/2010/main" val="6058954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0B438-09C4-4E23-84B9-122E937E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65701-80BA-4A37-8617-DEF8B40F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ИССЛЕДОВАТЕЛЬСКИЙ ВОПРОС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ACE1E-0021-414F-9102-B371BC24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Можно ли заметить ошибку до проверки источника?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F2A0A-70D0-42AB-BB31-A29BA8E4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0764D-DD51-40B6-B5B9-17A3D42D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75822-D9E9-4D47-96D9-07D9B6C7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Если независимые ответы модели образуют разные смысловые версии, риск фактической ошибки должен расти.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A1291-617D-42DF-BF9A-1993AA52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14650"/>
            <a:ext cx="807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C4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8022D-A639-4C5B-940B-6437D8D9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4629150" cy="1695450"/>
          </a:xfrm>
          <a:prstGeom xmlns:a="http://schemas.openxmlformats.org/drawingml/2006/main" prst="roundRect">
            <a:avLst>
              <a:gd name="adj" fmla="val 123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6360D-6B2B-4E39-800B-4FBD6472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718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H₀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A45EA-1F88-4B88-B108-2CC38EC1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95675"/>
            <a:ext cx="319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Динамика k₂→k₅</a:t>
            </a:r>
          </a:p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не улучшает прогноз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CD0B7-740B-4D6F-B33D-70CBE863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4629150" cy="1695450"/>
          </a:xfrm>
          <a:prstGeom xmlns:a="http://schemas.openxmlformats.org/drawingml/2006/main" prst="roundRect">
            <a:avLst>
              <a:gd name="adj" fmla="val 1236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0459F-E359-4D5D-913C-38EE0661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718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H₁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02A82-1ECC-4D08-AE41-251A2FF5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95675"/>
            <a:ext cx="319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4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Динамика k₂→k₅</a:t>
            </a:r>
          </a:p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даёт дополнительный сигнал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D0358-3D5E-4985-8DD8-13E0786F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24500"/>
            <a:ext cx="902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Проверка: сравнить динамические признаки с сильной статической базовой моделью k₅ на закрытом тесте.</a:t>
            </a:r>
          </a:p>
        </p:txBody>
      </p:sp>
    </p:spTree>
    <p:extLst>
      <p:ext uri="{BB962C8B-B14F-4D97-AF65-F5344CB8AC3E}">
        <p14:creationId xmlns:p14="http://schemas.microsoft.com/office/powerpoint/2010/main" val="1724795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3D059-E7D6-4CB3-AAD8-C360ABB8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A8DDF-6A13-4907-B0CE-D05A67C6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ЭКСПЕРИМЕНТ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AC5BF-678C-4AB9-8952-BCE812EC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Полный факторный дизайн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E9950-4482-4988-99CD-5193CA17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157F3-44DE-4556-B06A-FEECA329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6B8BE-BAB0-4942-A692-4C4CDBFA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381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7AFB9-09A1-45EA-9E08-F999649F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CB460-1BEE-4429-9E7A-C1D0F1C5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DFD80-0CEC-47B2-A09B-30154A78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проверенных фактов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6E6C3-111B-4F21-9AC6-E97047AC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145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39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53228-6A85-4E67-8542-CA524D43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52600"/>
            <a:ext cx="2381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F8E91-0717-4D56-BD89-FC6149F4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526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9BEDE-E57C-4F98-8EF1-3DDFBA0F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431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EC4B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C4B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901E0-8316-43C9-ACEB-2AF64E83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908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языка: EN · RU · KK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2A879-DB53-42BC-894B-0E9A7051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39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672CA-688E-4CA9-B1FE-BBB3D651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52600"/>
            <a:ext cx="2381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F105E-4B15-434E-B47D-9BA75DF6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526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F4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34DCB-9615-4EEC-88F8-16475F5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431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BF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BF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D54E1-D75B-4C98-86D7-A75AC96E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модели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CAF48-D0F9-4248-8D1D-4A2EF0FB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145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39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25475-C6AC-40C2-B44A-FB0B6C64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752600"/>
            <a:ext cx="14287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4052A-8F1E-4CFA-8A7B-BAB72EE3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7526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BBFDB-D81E-4E41-BCB8-55279724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43100"/>
            <a:ext cx="1000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1999D0-7B81-4999-8E6D-CFEB66B4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90800"/>
            <a:ext cx="100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ответов на условие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29F4C-5D1F-46A7-A83B-15E2C14C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05250"/>
            <a:ext cx="7505700" cy="118110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8163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F0BBDB-41E2-4BAF-89EE-D3A5916C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909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5 400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DF5416-B5C1-4D64-AF3B-97BBC423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D3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6D3EC"/>
                </a:solidFill>
                <a:latin typeface="Arial"/>
                <a:ea typeface="Arial"/>
                <a:cs typeface="Arial"/>
              </a:rPr>
              <a:t>ответов в воспроизводимом пилоте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58762F-BD7A-46C7-84B5-93F6DC96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81650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Цель = разделить влияние модели, языка, категории и ложной предпосылки.</a:t>
            </a:r>
          </a:p>
        </p:txBody>
      </p:sp>
    </p:spTree>
    <p:extLst>
      <p:ext uri="{BB962C8B-B14F-4D97-AF65-F5344CB8AC3E}">
        <p14:creationId xmlns:p14="http://schemas.microsoft.com/office/powerpoint/2010/main" val="2035105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A13746-BBF7-4F6F-8E35-FE25F317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8B851-0F99-4059-9ADB-44335D7A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735D2-B51E-4089-8738-DCC3A664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Бенчмарк сбалансирован по шести типам вопросов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0DFD0-4B9C-42DD-BA0D-F71BE26C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91127-C28D-41B6-8122-D0E9A163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BE12C-7EAD-48F4-8E04-C0BDE644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219450" cy="1276350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1B252-6BAF-44F2-8694-45F5D628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14300" cy="1276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7ABB0-5C7B-4188-81DB-C18D396A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40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9204A-8DF7-4618-BA7F-3FE3BDE2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383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История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33248-882B-4E77-837C-C03DE067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фактов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D64E2-BF7A-440A-836D-CD8F2FD4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52600"/>
            <a:ext cx="3219450" cy="1276350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27674-AF04-4821-AAED-AC758139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52600"/>
            <a:ext cx="114300" cy="1276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ED7DE-9E86-4891-984C-119E2941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240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EC4B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C4B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0A886-8989-465E-9B03-87CF3FC3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383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География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31042-293F-45EF-8FFF-7FF357BE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24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фактов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803E1-76B3-4E48-AD0C-17498BF0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3219450" cy="1276350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86DDB-F05D-4C8D-9CB6-717FD2B8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114300" cy="1276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F4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39480-E2F6-4708-838A-180E904A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BF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BF4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7AC4E-C598-4A7F-B6A9-A3D0412C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383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Наука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FCC0B-C11E-4B8D-AF56-233E1BCA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24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фактов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67E48-0DDA-43B8-AF7F-BB5F08C9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3219450" cy="1276350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861AB-E245-4ED3-A6CB-4B416131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14300" cy="1276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9D0D1-81D7-4F84-81E8-843FB9EC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5C7F9-996C-4B43-BF3D-69EAF47F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14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Культура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EC21B-0A87-4B55-98E7-FEE46CD3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05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фактов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5D2138-1550-45BC-9362-A3872BF0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3219450" cy="1276350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865C2A-65A5-4C5D-B6CA-CCAC6480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114300" cy="1276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EA80C5-EF9A-439C-ADE1-4BB21B23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004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C75CF6-F76E-4E93-BA06-F75438A8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14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Казахстан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D80704-D03A-413F-B5E9-D62DBA90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005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фактов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9D112A-EE7A-49C8-9905-A9AB47C6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3219450" cy="1276350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7EEA86-F8EC-44FB-AF8B-EFDF675C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114300" cy="1276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631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3DE825-4842-4DF0-9476-38DA587F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004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16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163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926A11-6996-48EB-B203-241B5D41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15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Ложная предпосылка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F3DE0D-14CC-4893-B5F9-CA2CB291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005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фактов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3ACAE4-A7A4-4AEE-A339-A0603D77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48300"/>
            <a:ext cx="883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Каждый факт существует в эквивалентных формулировках EN / RU / KK.</a:t>
            </a:r>
          </a:p>
        </p:txBody>
      </p:sp>
    </p:spTree>
    <p:extLst>
      <p:ext uri="{BB962C8B-B14F-4D97-AF65-F5344CB8AC3E}">
        <p14:creationId xmlns:p14="http://schemas.microsoft.com/office/powerpoint/2010/main" val="258613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86720-EBBA-4838-A89A-B87FF619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2A8C2-6E2A-4378-BA99-BE8394D7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МЕТОД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03D05-5336-4997-9615-0B3B7B7F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От ответов — к вероятности ошибки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DB518-EFA7-4F3A-9BFD-892FCBC9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C5465-ECE9-415F-AC30-C539CDB5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D3B9C-8275-4FF0-B000-335C098B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7907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90949-3F17-4AC6-9A68-958C7345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Target + 5 samples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87530-C91B-4386-A733-64841F43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14550"/>
            <a:ext cx="1619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D8778-352A-4FBB-9952-344D4945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9075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Фактическая</a:t>
            </a:r>
          </a:p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DCCC3-3DC6-402B-AA2E-62CE3044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1619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BC335-5EF2-4655-9FE8-A85A1A8C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Смысловые</a:t>
            </a:r>
          </a:p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кластеры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73176-C096-4F6C-BFD9-9A79D1BE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1619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BF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9FEAE-CEAE-4400-A3FA-B35B7F3A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Траектория</a:t>
            </a:r>
          </a:p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k₂ → k₅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543E4-6A31-4B58-922B-63EE0A7A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1619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2645C5-203F-490D-8C76-8CEC66D8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P(ошибка)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84901-C7B9-45C7-8C9F-ECC36730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1619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A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8D150-1D8C-4034-9BD6-609BE8E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9075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Locked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CBD49-E15A-4C1D-9743-E47F03B3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574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6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E5CB9-F8B3-4DED-9980-C81275D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574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6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A4077-9F1E-42C1-AFD6-90F5215A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6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7F479-59F9-45E7-9A4E-29179FC2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574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6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7259A4-4795-4866-B1FC-DBEA7E71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574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6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08898-450A-4BBE-B493-CED314AF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14750"/>
            <a:ext cx="84582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A8C670-B967-479F-A4BC-810DE11F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05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Признаки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682DAD-C8CF-44CD-B4B1-9542B304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0047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энтропия · число кластеров · поддержка target · максимальная доля кластера · скорость изменения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1A3A89-FAF8-473C-BA1E-4CBB84D9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00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Смысл сравнивается, а не совпадение отдельных слов.</a:t>
            </a:r>
          </a:p>
        </p:txBody>
      </p:sp>
    </p:spTree>
    <p:extLst>
      <p:ext uri="{BB962C8B-B14F-4D97-AF65-F5344CB8AC3E}">
        <p14:creationId xmlns:p14="http://schemas.microsoft.com/office/powerpoint/2010/main" val="6343807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4AAA93-81DB-4881-B08F-45ACEAE6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0961B-62F0-40BD-BB1C-61F0ED34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КОНТРОЛЬ КАЧЕСТВА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3FFCB-4FAB-41B0-8A1D-927F5442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Данные доведены до проверяемого состояния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DBBC4-8BBB-4580-8AD1-2F80C006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EA8A3-1E31-4E7B-8656-4A7A41F2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9BD0A-A86F-4ADC-8A72-48707F35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400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2C454-046A-451B-A4F4-59245022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F946B-B71B-4B0A-9DE1-510AA4D4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971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5 400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F0C02-4AEC-410A-84C8-280CA067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1971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из 5 400 ответов получено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97FDF-CEB0-4D38-BBA3-0E057F99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2400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EBE6D-6F75-4924-B326-F7B7C558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69165-8306-4547-BBCD-08D286FA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85950"/>
            <a:ext cx="1971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866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F4748-51AC-40FC-8697-8633B9D3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1971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полных кейсов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A51AE-5F4A-4D92-B996-45E045DB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95450"/>
            <a:ext cx="2400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1255D-2B3D-4A26-A39B-57CB082E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954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E5594-35F8-4E50-B022-D4BA6F9C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85950"/>
            <a:ext cx="1971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FE736-008D-482A-A861-5C8A4BB5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1971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invalid / truncated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CB356-65BA-438E-BFBD-F0D1E4D6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31051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48A0E-92D3-4BDE-B7B9-2E86C8CB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E5C763-9EDD-4C37-A2A0-0DF9D272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85950"/>
            <a:ext cx="2676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EC4B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C4B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8F3DB-80E9-4C98-B6B3-E2F2598F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33650"/>
            <a:ext cx="2676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дублированных ключей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949027-ADC6-43C5-B0A1-E0B7BC70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FC69E0-4ACE-45AE-A471-95655319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889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BC7CA-7141-4D62-80CC-64C84D4E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100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доступных factual-меток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492509-BA76-4EDE-97A4-9032D1F2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4335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732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F90572-B782-4BC3-90BE-15F3303B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00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проверены человеком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56829-BF0F-4039-B461-44CE07FF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4335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EC4B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EC4B6"/>
                </a:solidFill>
                <a:latin typeface="Arial"/>
                <a:ea typeface="Arial"/>
                <a:cs typeface="Arial"/>
              </a:rPr>
              <a:t>157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931F10-A61E-4834-B34E-2A0E8D4B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100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точные auto-match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7A8EC0-F1D5-4045-9076-6DDB45E6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14975"/>
            <a:ext cx="929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11 ответов оставлены без бинарной оценки: для обрыва нельзя честно угадывать 0 или 1.</a:t>
            </a:r>
          </a:p>
        </p:txBody>
      </p:sp>
    </p:spTree>
    <p:extLst>
      <p:ext uri="{BB962C8B-B14F-4D97-AF65-F5344CB8AC3E}">
        <p14:creationId xmlns:p14="http://schemas.microsoft.com/office/powerpoint/2010/main" val="10465843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14167-B619-4002-B057-5A7EA095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B02A9-8639-4C6F-8BD6-1EC0CD31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ПРЕДВАРИТЕЛЬНЫЕ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1DDA0-D129-4426-8A35-C97EF77F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Казахский язык оказался самым сложным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68FBF-F6F9-4591-882B-A4C9A4D5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036A1-1111-4688-A553-C8C0A219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76300" y="1619250"/>
          <a:ext xmlns:a="http://schemas.openxmlformats.org/drawingml/2006/main" cx="7239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bf3ffad39f442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AE32B-0D08-4D73-A0BE-7B8C2C00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26,5%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7D5E4-9CD4-4C44-869B-58EA8437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ошибок в KK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7C857-53DE-481B-A5EF-D1C78649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04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+11,8 п.п. к 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00184-21F0-429F-8FED-A5DF94C4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26289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44F7E-461B-4E06-89AA-E2D9BC29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71950"/>
            <a:ext cx="220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Сигнал для отдельной</a:t>
            </a:r>
          </a:p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калибровки по языкам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04C7A-05C7-4E9E-860F-DB5D4F14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n: EN 298 · RU 297 · KK 294 оцениваемых target-ответа</a:t>
            </a:r>
          </a:p>
        </p:txBody>
      </p:sp>
    </p:spTree>
    <p:extLst>
      <p:ext uri="{BB962C8B-B14F-4D97-AF65-F5344CB8AC3E}">
        <p14:creationId xmlns:p14="http://schemas.microsoft.com/office/powerpoint/2010/main" val="6680805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CAF0D-6027-4626-8865-569F7093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1DDB4-66DD-48F1-AD9B-D9E62333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ПРЕДВАРИТЕЛЬНЫЕ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5ABCA-9D8D-436C-9A40-BBC2E773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Разброс между моделями меньше, чем между категориями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C03EB-8F03-49C3-AB4E-FAA2ACB1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4BEFA-EA66-4670-A39C-D739B33C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38200" y="1619250"/>
          <a:ext xmlns:a="http://schemas.openxmlformats.org/drawingml/2006/main" cx="7524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dac9b85943432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724B6-DED0-4FD5-AE73-ABC182DE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8,5 п.п.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EE341-4B84-4A9D-9566-0BC9D7CB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43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разница max–min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633D7-4F1F-485C-AB0E-11C31169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38550"/>
            <a:ext cx="2686050" cy="1276350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DFE48-1FB3-42AB-909E-A030128E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814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Вывод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C42A3-5161-426C-8C12-9005F381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48125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Модель важна, но</a:t>
            </a:r>
          </a:p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содержание вопроса</a:t>
            </a:r>
          </a:p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влияет сильнее.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CCA57-6C42-4BC4-82F1-4E3207C6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n: Qwen 3.6 — 299 · Qwen 3.8 — 293 · GPT-OSS 20B — 297</a:t>
            </a:r>
          </a:p>
        </p:txBody>
      </p:sp>
    </p:spTree>
    <p:extLst>
      <p:ext uri="{BB962C8B-B14F-4D97-AF65-F5344CB8AC3E}">
        <p14:creationId xmlns:p14="http://schemas.microsoft.com/office/powerpoint/2010/main" val="1943439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75171-F74A-4F94-B3BA-4887D30F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D1BF3-40C2-406F-A7CF-44391335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ПРЕДВАРИТЕЛЬНЫЕ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FEA2C-A201-498C-890A-F5BBB362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Главный риск — локальные знания и ложные предпосылки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67396-11A7-42A8-9799-B87340DB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DAAC8-F998-4822-B99F-33EC6EE0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23900" y="1524000"/>
          <a:ext xmlns:a="http://schemas.openxmlformats.org/drawingml/2006/main" cx="8286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bab3e3ad20467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E71FD-0038-457C-B418-0A890E1D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52,1%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C0F65-5460-4139-B48C-0FC8760A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76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Казахстан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31123-558C-42D3-9002-ED56C23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F4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BF47"/>
                </a:solidFill>
                <a:latin typeface="Arial"/>
                <a:ea typeface="Arial"/>
                <a:cs typeface="Arial"/>
              </a:rPr>
              <a:t>31,6%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B52A1-840A-41F2-ADBF-41E6EB11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ложная предпосылка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19D24-326A-4A5F-ADBC-8530D21D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7217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Вывод относится к этому набору вопросов; перенос на другие домены нужно проверять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6843346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FF874D-BC70-44BB-A369-E34E7A94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4DF00-35B1-4E18-950F-4CD7DB8B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ИТОГОВЫЙ РЕЗУЛЬТАТ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827BD-FA1F-4E52-8D23-34916B2B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Динамическая модель прошла locked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46D24-4E8B-453E-9A35-31381512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CD5A4-BEDB-420D-9B46-C2B5D43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EE329-8A98-40D4-B7F7-CDDDF552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400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7FDC1-EF5A-45D7-B4F5-CE821D15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11D0D-D0F8-4EF0-B838-301F7DB4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971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0,879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2CBDF-389B-42DB-A8F8-7736B261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1971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AUROC ·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C7B7A-A4F3-4BE7-9404-34650C7F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2400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939B5-1705-4688-95A5-01FCAAA0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9108A-80BD-4BCA-AC62-A445B7E9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85950"/>
            <a:ext cx="1971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EC4B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C4B6"/>
                </a:solidFill>
                <a:latin typeface="Arial"/>
                <a:ea typeface="Arial"/>
                <a:cs typeface="Arial"/>
              </a:rPr>
              <a:t>0,622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7AFF8-2EAD-48CA-815D-DBE998AF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1971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AUPRC ·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6A3B9-63DB-44B9-832C-5258F102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95450"/>
            <a:ext cx="2400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284A7-8402-4E28-B7C7-6DB8E51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954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01A82-0355-420A-B6EC-E17F9C07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85950"/>
            <a:ext cx="1971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0,457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6871F-0E37-40AC-A461-57EC75CC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1971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F1 ·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80A220-1BDB-455C-831C-CDDF1024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31051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CE403-BA9E-4BC4-AF3D-DB9F559B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C7047-6A73-4960-94CA-FA579AE5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85950"/>
            <a:ext cx="2676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131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74A87-4457-4F50-94AB-0803FBA6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33650"/>
            <a:ext cx="2676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test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FE916-BDF0-4D26-8890-5CD9300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08163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744F79-A5A6-443F-A7EC-CB85262D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C4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C4B6"/>
                </a:solidFill>
                <a:latin typeface="Arial"/>
                <a:ea typeface="Arial"/>
                <a:cs typeface="Arial"/>
              </a:rPr>
              <a:t>95% CI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EF311E-2B0A-4106-ACE2-64774515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766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AUROC  0,817–0,934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A3711-53AB-47FF-A3FD-30B4EF28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766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AUPRC  0,365–0,782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5498B-7333-4288-9D9D-534C21FE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386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3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3EC"/>
                </a:solidFill>
                <a:latin typeface="Arial"/>
                <a:ea typeface="Arial"/>
                <a:cs typeface="Arial"/>
              </a:rPr>
              <a:t>1 000 bootstrap resamples по fact_id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EF5D5-7BCD-4BE4-ACB0-074DE582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14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Модель и threshold были зафиксированы до однократного открытия test.</a:t>
            </a:r>
          </a:p>
        </p:txBody>
      </p:sp>
    </p:spTree>
    <p:extLst>
      <p:ext uri="{BB962C8B-B14F-4D97-AF65-F5344CB8AC3E}">
        <p14:creationId xmlns:p14="http://schemas.microsoft.com/office/powerpoint/2010/main" val="19515235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173DE-35D0-4EDD-931E-8B46D03A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CF190-6EC6-4739-8AD8-EA9F82BD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ПРОВЕРКА ГИПОТЕЗЫ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83F8F-14D9-4570-9D33-9C9E5969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Траектория добавляет сигнал сверх static k₅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41B89-8665-472F-A880-52C8E40E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ADF94-8411-4ADE-B0A5-37AA7A77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139FE-647F-443B-A830-E0D81FBE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3181350"/>
          </a:xfrm>
          <a:prstGeom xmlns:a="http://schemas.openxmlformats.org/drawingml/2006/main" prst="roundRect">
            <a:avLst>
              <a:gd name="adj" fmla="val 7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84081-CFAA-4248-95DC-32111894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STATIC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00E7F-7A6A-465F-970E-B762B10B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98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0,842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6D37C-90A4-4BDA-B23A-7209E271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337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AUROC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82C0A-466D-4B53-8529-54B85F0B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final semantic features k₅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5B382-4ABF-426D-A36A-885D17E8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95450"/>
            <a:ext cx="5638800" cy="3181350"/>
          </a:xfrm>
          <a:prstGeom xmlns:a="http://schemas.openxmlformats.org/drawingml/2006/main" prst="roundRect">
            <a:avLst>
              <a:gd name="adj" fmla="val 7186"/>
            </a:avLst>
          </a:prstGeom>
          <a:solidFill xmlns:a="http://schemas.openxmlformats.org/drawingml/2006/main">
            <a:srgbClr val="08163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462FE-C2CD-45B5-A131-748C8F7E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C4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C4B6"/>
                </a:solidFill>
                <a:latin typeface="Arial"/>
                <a:ea typeface="Arial"/>
                <a:cs typeface="Arial"/>
              </a:rPr>
              <a:t>DYNAMIC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8EA80-7C35-4FFE-B14D-21A6A756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0,879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BBE1E-A3D6-4D43-90CF-A8067202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337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6D3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3EC"/>
                </a:solidFill>
                <a:latin typeface="Arial"/>
                <a:ea typeface="Arial"/>
                <a:cs typeface="Arial"/>
              </a:rPr>
              <a:t>AUROC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C4350-9DD4-4EAC-960A-B8D53455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6D3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3EC"/>
                </a:solidFill>
                <a:latin typeface="Arial"/>
                <a:ea typeface="Arial"/>
                <a:cs typeface="Arial"/>
              </a:rPr>
              <a:t>trajectory features k₂ → k₅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A695D-E771-4301-9E4A-F22ACC89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37D52-93A5-40DC-89FF-4FD4EFC5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33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Δ +0,038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D2F3F-0BC9-4252-A23D-2ED1E132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Bootstrap CI разницы AUROC: +0,001 … +0,084</a:t>
            </a:r>
          </a:p>
        </p:txBody>
      </p:sp>
    </p:spTree>
    <p:extLst>
      <p:ext uri="{BB962C8B-B14F-4D97-AF65-F5344CB8AC3E}">
        <p14:creationId xmlns:p14="http://schemas.microsoft.com/office/powerpoint/2010/main" val="15393871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6CC720-042E-451C-912F-ED680E87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A440F-2A02-498E-97A7-88674B0E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ИНЖЕНЕРИЯ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38377-C213-4E67-82E2-CD060555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Результат можно воспроизвести и проверить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C56A5-5E3F-4406-BA36-8D32B1AF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4248B-06C7-4809-A500-546DC1D0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2A1E1-5937-4F99-9AD3-D07673C4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924050" cy="2000250"/>
          </a:xfrm>
          <a:prstGeom xmlns:a="http://schemas.openxmlformats.org/drawingml/2006/main" prst="roundRect">
            <a:avLst>
              <a:gd name="adj" fmla="val 99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9ED55-8B2A-4154-B8DC-5AB3BFDA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56909-9A05-4536-A1FB-DC898674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Стабильные ключи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7CB86-569D-4531-8375-A29C8BAF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4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8D3AA-6EAA-468E-88F7-6AFD3AD3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7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case/model/lang/sample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89FA3-5AFB-43F0-BFF5-EA75373F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43100"/>
            <a:ext cx="1924050" cy="2000250"/>
          </a:xfrm>
          <a:prstGeom xmlns:a="http://schemas.openxmlformats.org/drawingml/2006/main" prst="roundRect">
            <a:avLst>
              <a:gd name="adj" fmla="val 99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45800-E212-4D39-9252-AE01EAF0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336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0A24F-BDFC-4478-B6CC-9D0CF75D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479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7299C-175E-43F3-B53C-CA80909C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67075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4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75D7A-2EB6-463C-898F-0D59E008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290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1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состояние и повторы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6CBD9-53EC-46EF-8031-B6A75129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43100"/>
            <a:ext cx="1924050" cy="2000250"/>
          </a:xfrm>
          <a:prstGeom xmlns:a="http://schemas.openxmlformats.org/drawingml/2006/main" prst="roundRect">
            <a:avLst>
              <a:gd name="adj" fmla="val 99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FDEB0-06D0-4FF7-83AB-FEBA1642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336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3D6A3-C7F1-46F5-801E-4B2F5892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79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47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Retry + backoff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16F96-CE1F-4869-B824-299423B9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67075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148D4-C717-42B9-826C-52161168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устойчивость к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373A0E-41FD-41FC-9AA5-48936919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43100"/>
            <a:ext cx="1924050" cy="2000250"/>
          </a:xfrm>
          <a:prstGeom xmlns:a="http://schemas.openxmlformats.org/drawingml/2006/main" prst="roundRect">
            <a:avLst>
              <a:gd name="adj" fmla="val 99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941A14-7A76-4024-8FE8-01B44EC5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7C4C51-842C-480A-ACCC-0211469A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Хэши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49B4FA-9F2E-405B-BA4F-5D7738E6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7075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4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BB7A1D-7FE7-4E12-9292-9D7FB125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90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контроль входов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4A3C85-11E2-42F9-BE6E-B6427EAF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43100"/>
            <a:ext cx="1924050" cy="2000250"/>
          </a:xfrm>
          <a:prstGeom xmlns:a="http://schemas.openxmlformats.org/drawingml/2006/main" prst="roundRect">
            <a:avLst>
              <a:gd name="adj" fmla="val 990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D0175B-1991-4630-81C5-F62AF4C4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336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3B4039-9FDD-4642-8975-B1D35185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479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Версионирование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107EB8-10FC-47F1-A89C-E7AE2196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67075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AE8626-AEFF-458C-AE59-2901A35F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v1 → v4 без перезаписи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8DBE6D-1D98-4D57-8658-6BF9055B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91050"/>
            <a:ext cx="86487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081631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0FE271-A837-49CC-86B9-46D2F33F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625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C4B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C4B6"/>
                </a:solidFill>
                <a:latin typeface="Arial"/>
                <a:ea typeface="Arial"/>
                <a:cs typeface="Arial"/>
              </a:rPr>
              <a:t>0 дублей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8EC019-69DB-4115-9BA9-D75813E6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81550"/>
            <a:ext cx="601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каждый результат связан с точным условием, моделью, языком и запуском</a:t>
            </a:r>
          </a:p>
        </p:txBody>
      </p:sp>
    </p:spTree>
    <p:extLst>
      <p:ext uri="{BB962C8B-B14F-4D97-AF65-F5344CB8AC3E}">
        <p14:creationId xmlns:p14="http://schemas.microsoft.com/office/powerpoint/2010/main" val="1226032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271E29-A844-40E2-BBAB-40A7D690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263A9-E4FF-4C19-A15F-9DB423EA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СТАТУС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B9B65-6830-4479-B76F-F5A1F198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Все вычислительные этапы pilot завершены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56E2A-D76F-4214-8ADF-AB94EED5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88D66-EA3C-48F8-AB5E-143027CE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708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CBCD2-3CEC-48A6-8077-B999B206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765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DE4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8580A-A525-4325-8FE9-843BE3AE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F09AE-F53A-4466-B7A1-9504D1F6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1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1E5D9-B6A4-4F36-90FB-449EFBBB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63E5C-D708-43B6-9B50-E7185203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766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Датасет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1F5FA-C7E7-4B5C-B37F-4A817EBC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90936-336E-488A-A23A-88299806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готово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FFA4D-E165-4213-B2B9-1530B0EB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670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6F41F-1A9E-40C3-A1A9-28A4B2C6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146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1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2E841-43E5-4D27-8038-93CE2ED9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050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ECBC2-D1B2-4D1D-B7E0-2D3B2DBD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766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5400 ответов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53E5D-DE18-4D57-A7C6-9E5D65E4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2028D-7D3D-4A7A-8F41-9CADF9ED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готово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9EEA9-0E3D-45FB-80EF-F1604849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670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15BD4-F445-46AE-B173-E5EDB696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146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1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834F74-4731-4DA8-AFEE-6574527F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FF4ACD-9555-416C-912B-732C6803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766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Factual labels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70638-400B-4F68-8E78-DA0C4488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24300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02341-9E39-4805-95C8-D3CF0033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433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готово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89EC1-77F6-46EB-B0B9-97E00066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355C13-2DDA-4CC5-A47E-02482CBD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7146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1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C614AE-D7CB-46D0-BD5E-08EA2DA3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D73049-EE4B-480C-91B3-5EBA6839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Semantic v4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9D8C75-6402-4EC6-BA47-85140559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24300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42120F-8AB2-4DDB-83CE-AE19AAAA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866/866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BD073E-9781-4101-B255-42AEBC6D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670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27011A-5F51-4085-B20D-3F8AA5DA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146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1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0149F8-81FB-41C6-8604-3BF7A1F2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050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D888C5-352E-441E-9C17-E676C455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766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Модели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3ECC12-699D-4A21-AAB9-EBD62701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24300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BBAD50-E94B-4B4B-A03D-12DA771C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433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готово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12A316-1339-42F3-9C99-C7EB48B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22FAEB-957D-4E92-A2C5-EDA7C664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146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1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3211F8-3E4B-4F32-845B-ABCA4614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050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ACB5D9-05C2-4E6A-8D81-B685BA62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7660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Locked test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9CBC13-83EC-44B1-B334-68B8CF68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924300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AC7DF0-10DD-4FE4-BBF6-23316D3F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433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готово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114D78-6F1A-4DA7-A2D2-DFD76165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38725"/>
            <a:ext cx="88011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9CDA3B-974B-4D76-84F5-7B690014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197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Критерий завершения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045087-36A3-4BAF-B3EC-879B3B05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6255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5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AUROC / AUPRC / ECE и bootstrap CI на заранее закрытом тесте</a:t>
            </a:r>
          </a:p>
        </p:txBody>
      </p:sp>
    </p:spTree>
    <p:extLst>
      <p:ext uri="{BB962C8B-B14F-4D97-AF65-F5344CB8AC3E}">
        <p14:creationId xmlns:p14="http://schemas.microsoft.com/office/powerpoint/2010/main" val="9344510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6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66D6B0-1E4A-402A-8CF9-C82CE90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0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1A0B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49723-0B96-4C98-A93E-62C6C703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05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BAC16-DE7D-4B58-B3E4-FFA190DE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C4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C4B6"/>
                </a:solidFill>
                <a:latin typeface="Arial"/>
                <a:ea typeface="Arial"/>
                <a:cs typeface="Arial"/>
              </a:rPr>
              <a:t>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AA8CB-CEDD-4541-AE63-DDC476D1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AUROC 0,879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01672-E0F4-45C8-ABCE-E5C62BAF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6D3E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6D3EC"/>
                </a:solidFill>
                <a:latin typeface="Arial"/>
                <a:ea typeface="Arial"/>
                <a:cs typeface="Arial"/>
              </a:rPr>
              <a:t>на заранее закрытом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54914-0AD9-40C7-A4E2-DE52CEAF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43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3206B-AB2F-49F5-B31B-BA0F560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EC4B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C4B6"/>
                </a:solidFill>
                <a:latin typeface="Arial"/>
                <a:ea typeface="Arial"/>
                <a:cs typeface="Arial"/>
              </a:rPr>
              <a:t>+0,038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9381B-7259-43D6-AD3B-4E0289AA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908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ΔAUROC к static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CCD63-D190-42A4-BB40-EEEE2278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F4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F47"/>
                </a:solidFill>
                <a:latin typeface="Arial"/>
                <a:ea typeface="Arial"/>
                <a:cs typeface="Arial"/>
              </a:rPr>
              <a:t>Практический смысл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336DF-ADDA-4295-A37F-8BDE279D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риск направляет ответы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 приоритетную проверку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5B03D-1CDE-4532-A85D-E3F44B72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95350"/>
            <a:ext cx="4610100" cy="4552950"/>
          </a:xfrm>
          <a:prstGeom xmlns:a="http://schemas.openxmlformats.org/drawingml/2006/main" prst="roundRect">
            <a:avLst>
              <a:gd name="adj" fmla="val 5858"/>
            </a:avLst>
          </a:prstGeom>
          <a:solidFill xmlns:a="http://schemas.openxmlformats.org/drawingml/2006/main">
            <a:srgbClr val="10274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362EA-6E84-479D-BB1D-898FF4D3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57300"/>
            <a:ext cx="3848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7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C4B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C4B6"/>
                </a:solidFill>
                <a:latin typeface="Arial"/>
                <a:ea typeface="Arial"/>
                <a:cs typeface="Arial"/>
              </a:rPr>
              <a:t>Что можно защищать уже сейчас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70F13-4B2D-4F9A-9FC9-B9165B0A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526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22FEF-36F4-4A99-B058-27B038D2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002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0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9309A-4B71-4593-932E-5C791B80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33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3529C-362F-408E-A04D-83EF86B0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28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0DF"/>
                </a:solidFill>
                <a:latin typeface="Arial"/>
                <a:ea typeface="Arial"/>
                <a:cs typeface="Arial"/>
              </a:rPr>
              <a:t>95% CI: 0,817–0,934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35C0A-0BB1-4EDA-A9D6-EA10325B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908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8F1B3-041C-4141-96BA-844FA5E3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384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0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071AB-152E-4444-A132-693F7B62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717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Масштаб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FD0217-D534-47AB-8729-D1F9DE31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0DF"/>
                </a:solidFill>
                <a:latin typeface="Arial"/>
                <a:ea typeface="Arial"/>
                <a:cs typeface="Arial"/>
              </a:rPr>
              <a:t>832 feature cases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36D2C2-ADDC-4E99-8990-599F63A0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290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822AF-E61D-4BEC-AA1D-0703C1F1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766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0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F176F-3AE7-4D64-86F1-593664A2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09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Ограничение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06DFE3-7F84-4D04-BF77-6D4045AC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05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0DF"/>
                </a:solidFill>
                <a:latin typeface="Arial"/>
                <a:ea typeface="Arial"/>
                <a:cs typeface="Arial"/>
              </a:rPr>
              <a:t>recall при пороге: 0,333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315B5-A508-427F-B2A2-64BDEFE8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76925"/>
            <a:ext cx="461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6D3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3EC"/>
                </a:solidFill>
                <a:latin typeface="Arial"/>
                <a:ea typeface="Arial"/>
                <a:cs typeface="Arial"/>
              </a:rPr>
              <a:t>Следующий шаг: независимая human validation semantic judge (200 cases).</a:t>
            </a:r>
          </a:p>
        </p:txBody>
      </p:sp>
    </p:spTree>
    <p:extLst>
      <p:ext uri="{BB962C8B-B14F-4D97-AF65-F5344CB8AC3E}">
        <p14:creationId xmlns:p14="http://schemas.microsoft.com/office/powerpoint/2010/main" val="343548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2026-09-15T02:40:43.2470000Z</dcterms:created>
  <dcterms:modified xsi:type="dcterms:W3CDTF">2026-09-15T02:40:43.2470000Z</dcterms:modified>
</coreProperties>
</file>