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10f519d8e764560" /><Relationship Type="http://schemas.openxmlformats.org/officeDocument/2006/relationships/extended-properties" Target="/docProps/app.xml" Id="Rfe789c7170764b1f" /><Relationship Type="http://schemas.openxmlformats.org/officeDocument/2006/relationships/officeDocument" Target="/ppt/presentation.xml" Id="R1630d79ded9f475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749c4ae6c4c4885"/>
  </p:sldMasterIdLst>
  <p:notesMasterIdLst>
    <p:notesMasterId xmlns:r="http://schemas.openxmlformats.org/officeDocument/2006/relationships" r:id="R590a7309d6424e4f"/>
  </p:notesMasterIdLst>
  <p:sldIdLst>
    <p:sldId xmlns:r="http://schemas.openxmlformats.org/officeDocument/2006/relationships" id="256" r:id="R95a0a2bbcfaa411b"/>
    <p:sldId xmlns:r="http://schemas.openxmlformats.org/officeDocument/2006/relationships" id="257" r:id="R765817667a8e4ce2"/>
    <p:sldId xmlns:r="http://schemas.openxmlformats.org/officeDocument/2006/relationships" id="258" r:id="R063186605e734d43"/>
    <p:sldId xmlns:r="http://schemas.openxmlformats.org/officeDocument/2006/relationships" id="259" r:id="R9dc9881802b34d47"/>
    <p:sldId xmlns:r="http://schemas.openxmlformats.org/officeDocument/2006/relationships" id="260" r:id="R8a0f9f08367048d2"/>
    <p:sldId xmlns:r="http://schemas.openxmlformats.org/officeDocument/2006/relationships" id="261" r:id="R47d982dc7e83497c"/>
    <p:sldId xmlns:r="http://schemas.openxmlformats.org/officeDocument/2006/relationships" id="262" r:id="R5b15f91be8e748e8"/>
    <p:sldId xmlns:r="http://schemas.openxmlformats.org/officeDocument/2006/relationships" id="263" r:id="Reb06606278f14030"/>
    <p:sldId xmlns:r="http://schemas.openxmlformats.org/officeDocument/2006/relationships" id="264" r:id="Rc851c447472b4737"/>
    <p:sldId xmlns:r="http://schemas.openxmlformats.org/officeDocument/2006/relationships" id="265" r:id="R7fe5137af4cc459b"/>
    <p:sldId xmlns:r="http://schemas.openxmlformats.org/officeDocument/2006/relationships" id="266" r:id="R8e6b534c968c49e5"/>
    <p:sldId xmlns:r="http://schemas.openxmlformats.org/officeDocument/2006/relationships" id="267" r:id="R62116c4741b242b5"/>
    <p:sldId xmlns:r="http://schemas.openxmlformats.org/officeDocument/2006/relationships" id="268" r:id="R7a82aca27bf9477a"/>
    <p:sldId xmlns:r="http://schemas.openxmlformats.org/officeDocument/2006/relationships" id="269" r:id="R809a8c5e76144b21"/>
    <p:sldId xmlns:r="http://schemas.openxmlformats.org/officeDocument/2006/relationships" id="270" r:id="Raa601280a32d4d6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2b5d247aebb426e" /><Relationship Type="http://schemas.openxmlformats.org/officeDocument/2006/relationships/slideMaster" Target="/ppt/slideMasters/slideMaster1.xml" Id="Rc749c4ae6c4c4885" /><Relationship Type="http://schemas.openxmlformats.org/officeDocument/2006/relationships/notesMaster" Target="/ppt/notesMasters/notesMaster1.xml" Id="R590a7309d6424e4f" /><Relationship Type="http://schemas.openxmlformats.org/officeDocument/2006/relationships/presProps" Target="/ppt/presProps.xml" Id="Raaf7c6523412485a" /><Relationship Type="http://schemas.openxmlformats.org/officeDocument/2006/relationships/tableStyles" Target="/ppt/tableStyles.xml" Id="R3db4f12499b94d55" /><Relationship Type="http://schemas.openxmlformats.org/officeDocument/2006/relationships/slide" Target="/ppt/slides/slide1.xml" Id="R95a0a2bbcfaa411b" /><Relationship Type="http://schemas.openxmlformats.org/officeDocument/2006/relationships/slide" Target="/ppt/slides/slide2.xml" Id="R765817667a8e4ce2" /><Relationship Type="http://schemas.openxmlformats.org/officeDocument/2006/relationships/slide" Target="/ppt/slides/slide3.xml" Id="R063186605e734d43" /><Relationship Type="http://schemas.openxmlformats.org/officeDocument/2006/relationships/slide" Target="/ppt/slides/slide4.xml" Id="R9dc9881802b34d47" /><Relationship Type="http://schemas.openxmlformats.org/officeDocument/2006/relationships/slide" Target="/ppt/slides/slide5.xml" Id="R8a0f9f08367048d2" /><Relationship Type="http://schemas.openxmlformats.org/officeDocument/2006/relationships/slide" Target="/ppt/slides/slide6.xml" Id="R47d982dc7e83497c" /><Relationship Type="http://schemas.openxmlformats.org/officeDocument/2006/relationships/slide" Target="/ppt/slides/slide7.xml" Id="R5b15f91be8e748e8" /><Relationship Type="http://schemas.openxmlformats.org/officeDocument/2006/relationships/slide" Target="/ppt/slides/slide8.xml" Id="Reb06606278f14030" /><Relationship Type="http://schemas.openxmlformats.org/officeDocument/2006/relationships/slide" Target="/ppt/slides/slide9.xml" Id="Rc851c447472b4737" /><Relationship Type="http://schemas.openxmlformats.org/officeDocument/2006/relationships/slide" Target="/ppt/slides/slide10.xml" Id="R7fe5137af4cc459b" /><Relationship Type="http://schemas.openxmlformats.org/officeDocument/2006/relationships/slide" Target="/ppt/slides/slide11.xml" Id="R8e6b534c968c49e5" /><Relationship Type="http://schemas.openxmlformats.org/officeDocument/2006/relationships/slide" Target="/ppt/slides/slide12.xml" Id="R62116c4741b242b5" /><Relationship Type="http://schemas.openxmlformats.org/officeDocument/2006/relationships/slide" Target="/ppt/slides/slide13.xml" Id="R7a82aca27bf9477a" /><Relationship Type="http://schemas.openxmlformats.org/officeDocument/2006/relationships/slide" Target="/ppt/slides/slide14.xml" Id="R809a8c5e76144b21" /><Relationship Type="http://schemas.openxmlformats.org/officeDocument/2006/relationships/slide" Target="/ppt/slides/slide15.xml" Id="Raa601280a32d4d6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39f970d3111455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6f3fc3ed4e847da" /><Relationship Type="http://schemas.openxmlformats.org/officeDocument/2006/relationships/notesMaster" Target="/ppt/notesMasters/notesMaster1.xml" Id="Re7cbdcfbd4d4477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3557416b5fc4e82" /><Relationship Type="http://schemas.openxmlformats.org/officeDocument/2006/relationships/notesMaster" Target="/ppt/notesMasters/notesMaster1.xml" Id="R2277da93816940c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3b74a26ade947ec" /><Relationship Type="http://schemas.openxmlformats.org/officeDocument/2006/relationships/notesMaster" Target="/ppt/notesMasters/notesMaster1.xml" Id="Ra11cf2e79621456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f49dc2218824a5f" /><Relationship Type="http://schemas.openxmlformats.org/officeDocument/2006/relationships/notesMaster" Target="/ppt/notesMasters/notesMaster1.xml" Id="R07924d2303254e4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5bf7574e48e45da" /><Relationship Type="http://schemas.openxmlformats.org/officeDocument/2006/relationships/notesMaster" Target="/ppt/notesMasters/notesMaster1.xml" Id="Raca9cb8c142c433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50c693ee9b94039" /><Relationship Type="http://schemas.openxmlformats.org/officeDocument/2006/relationships/notesMaster" Target="/ppt/notesMasters/notesMaster1.xml" Id="R4d60ae7600cf4ff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9e3fd05245f4ed6" /><Relationship Type="http://schemas.openxmlformats.org/officeDocument/2006/relationships/notesMaster" Target="/ppt/notesMasters/notesMaster1.xml" Id="Ra6898d3b9f4d473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2740d40f32d473b" /><Relationship Type="http://schemas.openxmlformats.org/officeDocument/2006/relationships/notesMaster" Target="/ppt/notesMasters/notesMaster1.xml" Id="Rf4b91609c43a4e9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0d2fe91df9f4ddc" /><Relationship Type="http://schemas.openxmlformats.org/officeDocument/2006/relationships/notesMaster" Target="/ppt/notesMasters/notesMaster1.xml" Id="Rb2b0df8e91564c9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361f13c138d4289" /><Relationship Type="http://schemas.openxmlformats.org/officeDocument/2006/relationships/notesMaster" Target="/ppt/notesMasters/notesMaster1.xml" Id="R5c0da0899a9c4c6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4d34e9e2c52473b" /><Relationship Type="http://schemas.openxmlformats.org/officeDocument/2006/relationships/notesMaster" Target="/ppt/notesMasters/notesMaster1.xml" Id="Rb0d41b8f5ec5408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e8ec71c8443471a" /><Relationship Type="http://schemas.openxmlformats.org/officeDocument/2006/relationships/notesMaster" Target="/ppt/notesMasters/notesMaster1.xml" Id="Rb1572a3ffefe413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e21c5f1d64c42f1" /><Relationship Type="http://schemas.openxmlformats.org/officeDocument/2006/relationships/notesMaster" Target="/ppt/notesMasters/notesMaster1.xml" Id="R62610223d5e945e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9e6a26cba414373" /><Relationship Type="http://schemas.openxmlformats.org/officeDocument/2006/relationships/notesMaster" Target="/ppt/notesMasters/notesMaster1.xml" Id="R9ba8a962430e4e0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dcaa0e83ad54916" /><Relationship Type="http://schemas.openxmlformats.org/officeDocument/2006/relationships/notesMaster" Target="/ppt/notesMasters/notesMaster1.xml" Id="R627a3026f3774b0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Обложка создана специально для проекта. Вступление: языковая убедительность ответа не гарантирует его фактическую верность.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Реальный тип ошибки из ручной разметки: вместо Apollo 8 модель называла Apollo 11. Правило проекта: оценивается весь ответ, включая пояснения.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H1 считается подтверждённой только после сравнения на locked test. Предварительная factual-разметка сама по себе не доказывает качество детектора.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Формула: 100 фактов × 3 языка × 3 модели × (1 target + 5 stochastic samples) = 5400 ответов.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Состав facts.csv: по 16 обычных фактов в пяти категориях и 20 вопросов с ложной предпосылкой. Все 100 фактов прошли человеческую проверку.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Основной замысел опирается на semantic entropy и self-consistency. Источники: Farquhar et al., Nature 2024, DOI 10.1038/s41586-024-07421-0; Wang et al., ICLR 2023, openreview.net/forum?id=1PL1NIMMrw.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results/reports/pilot100_v1_preliminary_factual.json и инженерные отчёты проекта. 48 invalid/truncated относятся к сырым ответам; после агрегации 11 targets остались unresolved.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Предварительная factual-разметка. Ошибки/оценённые targets: EN 44/298, RU 53/297, KK 78/294. Это описание пилота, не итоговая оценка детектора.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Предварительная factual-разметка: Qwen 3.6 44/299; Qwen 3.8 62/293; GPT-OSS 20B 69/297.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Ошибки/оценённые: science 2/144; geography 8/144; history 16/144; culture 19/138; false premise 56/177; Kazakhstan 74/142.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results/reports/pilot100_v1_test_metrics.json. Selected model: dynamic_logistic, raw calibration, threshold 0.40157; test errors 24/131.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Парное сравнение выполнено на тех же 131 test cases с resampling по fact_id. CI не включает ноль; вывод относится к pilot100_v1.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Инженерная часть проекта: стабильные составные ключи, SQLite-журнал, экспоненциальные повторы, хэши входов и отдельные версии протокола.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Завершено: 866 semantic cases, 832 feature rows, train/validation model selection и однократный locked test. Остался отдельный научный gate: blinded human review 200 semantic cases.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Финальный тезис: pilot поддерживает гипотезу о полезности динамических признаков. Вывод ограничен этим benchmark; semantic judge требует отдельной человеческой проверки.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9fb32065b648b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ca0e79315664777" /><Relationship Type="http://schemas.openxmlformats.org/officeDocument/2006/relationships/slideLayout" Target="/ppt/slideLayouts/slideLayout1.xml" Id="Re233b25f53e14f9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233b25f53e14f9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14c696b8a04dff" /><Relationship Type="http://schemas.openxmlformats.org/officeDocument/2006/relationships/image" Target="/ppt/media/image.png" Id="Rdd009f724a9b4616" /><Relationship Type="http://schemas.openxmlformats.org/officeDocument/2006/relationships/notesSlide" Target="/ppt/notesSlides/notesSlide1.xml" Id="R7f2898f0d09d432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d70d5f0093452c" /><Relationship Type="http://schemas.openxmlformats.org/officeDocument/2006/relationships/notesSlide" Target="/ppt/notesSlides/notesSlide2.xml" Id="R0d22dbc77b354cb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3378536b4844bb" /><Relationship Type="http://schemas.openxmlformats.org/officeDocument/2006/relationships/notesSlide" Target="/ppt/notesSlides/notesSlide3.xml" Id="R00bc5963c5c442a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4eff5dfdb84048" /><Relationship Type="http://schemas.openxmlformats.org/officeDocument/2006/relationships/notesSlide" Target="/ppt/notesSlides/notesSlide4.xml" Id="R0fb57602a73f4aa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b7ac312148469a" /><Relationship Type="http://schemas.openxmlformats.org/officeDocument/2006/relationships/notesSlide" Target="/ppt/notesSlides/notesSlide5.xml" Id="R3d0626612cb241f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5fdb5de9ee4fb5" /><Relationship Type="http://schemas.openxmlformats.org/officeDocument/2006/relationships/notesSlide" Target="/ppt/notesSlides/notesSlide6.xml" Id="Rc157b91a2474412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df4f0f810e4287" /><Relationship Type="http://schemas.openxmlformats.org/officeDocument/2006/relationships/notesSlide" Target="/ppt/notesSlides/notesSlide7.xml" Id="Rd7418d20e6034d3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3c10548be14064" /><Relationship Type="http://schemas.openxmlformats.org/officeDocument/2006/relationships/notesSlide" Target="/ppt/notesSlides/notesSlide8.xml" Id="Rbc061c36887543a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2861a6a3c24097" /><Relationship Type="http://schemas.openxmlformats.org/officeDocument/2006/relationships/notesSlide" Target="/ppt/notesSlides/notesSlide9.xml" Id="Rd9f8566d825a48e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38f0026e504e78" /><Relationship Type="http://schemas.openxmlformats.org/officeDocument/2006/relationships/notesSlide" Target="/ppt/notesSlides/notesSlide10.xml" Id="R7db125614af3416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b8105651f541aa" /><Relationship Type="http://schemas.openxmlformats.org/officeDocument/2006/relationships/notesSlide" Target="/ppt/notesSlides/notesSlide11.xml" Id="R4b1f557840ef494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12e901fb2c4754" /><Relationship Type="http://schemas.openxmlformats.org/officeDocument/2006/relationships/notesSlide" Target="/ppt/notesSlides/notesSlide12.xml" Id="R198ba4c6bdb04a9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c26176641a4e8f" /><Relationship Type="http://schemas.openxmlformats.org/officeDocument/2006/relationships/notesSlide" Target="/ppt/notesSlides/notesSlide13.xml" Id="R5450caaf59ae422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3143bd4dd64dd7" /><Relationship Type="http://schemas.openxmlformats.org/officeDocument/2006/relationships/notesSlide" Target="/ppt/notesSlides/notesSlide14.xml" Id="Rb16a18443dfd476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cb5e47053d46b7" /><Relationship Type="http://schemas.openxmlformats.org/officeDocument/2006/relationships/notesSlide" Target="/ppt/notesSlides/notesSlide15.xml" Id="Ra087e678fb6a403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63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009f724a9b461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C4A406-E90C-4AEF-BA74-B0FF4DF3A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810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631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DB9A56-2FDF-4E18-9C21-14F6F139B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57150" cy="45243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C4B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3C0531-9C64-4C72-8605-D8A9D566B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781050"/>
            <a:ext cx="2324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305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9CD925-3FE1-4306-84CA-A284E48EA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80010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EC4B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EC4B6"/>
                </a:solidFill>
                <a:latin typeface="Arial"/>
                <a:ea typeface="Arial"/>
                <a:cs typeface="Arial"/>
              </a:rPr>
              <a:t>НАУЧНЫЙ ПРОЕКТ · РКНП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EC53DC-D96F-4D7C-94FF-72379246A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371600"/>
            <a:ext cx="4762500" cy="2457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Как меняется</a:t>
            </a:r>
          </a:p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семантическая</a:t>
            </a:r>
          </a:p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уверенность ИИ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E82501-C8AA-45BB-8868-890D93767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19550"/>
            <a:ext cx="4286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C6D3E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6D3EC"/>
                </a:solidFill>
                <a:latin typeface="Arial"/>
                <a:ea typeface="Arial"/>
                <a:cs typeface="Arial"/>
              </a:rPr>
              <a:t>Предсказание фактических ошибок по динамике согласия ответов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04F920-4302-465F-BC5D-5456DDE59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86350"/>
            <a:ext cx="466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100 фактов  ·  3 языка  ·  3 модели  ·  5400 ответов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3302FB-778E-4BF0-9B57-A2B62F462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721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Саурыков Ихсан Азаматович · 12D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024A22-33E7-49EA-9946-1F1758584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03885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2222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C6D3E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C6D3EC"/>
                </a:solidFill>
                <a:latin typeface="Arial"/>
                <a:ea typeface="Arial"/>
                <a:cs typeface="Arial"/>
              </a:rPr>
              <a:t>Руководитель: Авдюнин Николай Владимирович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3BE94C-6C6B-44E6-801C-1BD493DF9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2484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1A0BE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91A0BE"/>
                </a:solidFill>
                <a:latin typeface="Arial"/>
                <a:ea typeface="Arial"/>
                <a:cs typeface="Arial"/>
              </a:rPr>
              <a:t>Назарбаевская Интеллектуальная Школа физико-математического направления города Талдыкорган</a:t>
            </a:r>
          </a:p>
          <a:p xmlns:a="http://schemas.openxmlformats.org/drawingml/2006/main">
            <a:pPr algn="l">
              <a:defRPr sz="675" b="0">
                <a:solidFill>
                  <a:srgbClr val="91A0BE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91A0BE"/>
                </a:solidFill>
                <a:latin typeface="Arial"/>
                <a:ea typeface="Arial"/>
                <a:cs typeface="Arial"/>
              </a:rPr>
              <a:t>Секция: Информационные системы и технологии. Вычислительная нейронаука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7EC110-F637-487C-A708-22D7E2D0D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436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1A0B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91A0BE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30400917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1E4FD7-DF48-4081-92D3-CE58E6211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DB19E6-D320-4A07-A18C-B7B7F313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6B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F6BFF"/>
                </a:solidFill>
                <a:latin typeface="Arial"/>
                <a:ea typeface="Arial"/>
                <a:cs typeface="Arial"/>
              </a:rPr>
              <a:t>ПРОБЛЕМА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4B12F6-0C3C-493C-B312-B5230F8D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Уверенный ответ может быть неверным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895579-1276-4D74-96C4-6D7ECA2C4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049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4A5ADC-6F65-42A9-9E42-62BE3B10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3708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72DEF4-8DE8-439A-B10A-9C5A4BC6B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342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6B6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6B6B"/>
                </a:solidFill>
                <a:latin typeface="Arial"/>
                <a:ea typeface="Arial"/>
                <a:cs typeface="Arial"/>
              </a:rPr>
              <a:t>Apollo 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8D309A-4EAD-4DB2-B647-1ED1086A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86025"/>
            <a:ext cx="228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ответ модели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54F4BF-BAD6-479E-85B6-95BFE75A1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90750"/>
            <a:ext cx="142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6B6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58AC04-31DD-4C42-91D9-D9414BEEE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09750"/>
            <a:ext cx="342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2A06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2A06B"/>
                </a:solidFill>
                <a:latin typeface="Arial"/>
                <a:ea typeface="Arial"/>
                <a:cs typeface="Arial"/>
              </a:rPr>
              <a:t>Apollo 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A6E56F-B0C0-430B-8ECA-382AEA53E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486025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эталонный ответ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EE5969-F6E7-46B1-80BC-D0029A215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86125"/>
            <a:ext cx="10477500" cy="16764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230A23-D9DE-4FA8-917D-44A4CF497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43300"/>
            <a:ext cx="9810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Один правильный фрагмент не спасает ответ, если внутри есть ложное пояснение, неверная дата или противоречие.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7589D5-3DB3-47DA-ADD1-DA43DBCF5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62450"/>
            <a:ext cx="981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F6B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6BFF"/>
                </a:solidFill>
                <a:latin typeface="Arial"/>
                <a:ea typeface="Arial"/>
                <a:cs typeface="Arial"/>
              </a:rPr>
              <a:t>Поэтому в проекте оценивается весь ответ целиком.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2B0B0D-0DEA-456D-B63E-FAD2F855D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86400"/>
            <a:ext cx="25527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15AFED-2EBF-4163-83D9-554EF33AE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05450"/>
            <a:ext cx="2362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F6B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F6BFF"/>
                </a:solidFill>
                <a:latin typeface="Arial"/>
                <a:ea typeface="Arial"/>
                <a:cs typeface="Arial"/>
              </a:rPr>
              <a:t>WHOLE-ANSWER EVALUATION</a:t>
            </a:r>
          </a:p>
        </p:txBody>
      </p:sp>
    </p:spTree>
    <p:extLst>
      <p:ext uri="{BB962C8B-B14F-4D97-AF65-F5344CB8AC3E}">
        <p14:creationId xmlns:p14="http://schemas.microsoft.com/office/powerpoint/2010/main" val="117589508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C45053-468A-4086-AEA5-9D151DA8D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99BE8A-2CE0-4DF3-AF4D-B031F372B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6B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F6BFF"/>
                </a:solidFill>
                <a:latin typeface="Arial"/>
                <a:ea typeface="Arial"/>
                <a:cs typeface="Arial"/>
              </a:rPr>
              <a:t>ИССЛЕДОВАТЕЛЬСКИЙ ВОПРОС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893B23-7430-42A5-A341-78A3814CE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Можно ли заметить ошибку до проверки источника?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6A1A65-8436-465A-91D7-6B6E21318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049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2CE9E8-0E50-4CCC-A79C-A617BDCC3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3708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173F0D-D523-418A-B659-C024E72AE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Если независимые ответы модели образуют разные смысловые версии, риск фактической ошибки должен расти.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DCFF5C-83F3-4A07-ACAA-8192FE609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914650"/>
            <a:ext cx="807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2EC4B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C9C169-E91E-4C3A-9DB8-8B5F6E99C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52800"/>
            <a:ext cx="4629150" cy="1695450"/>
          </a:xfrm>
          <a:prstGeom xmlns:a="http://schemas.openxmlformats.org/drawingml/2006/main" prst="roundRect">
            <a:avLst>
              <a:gd name="adj" fmla="val 123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9856BE-861A-483B-A6B7-A67023E89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571875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118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63708A"/>
                </a:solidFill>
                <a:latin typeface="Arial"/>
                <a:ea typeface="Arial"/>
                <a:cs typeface="Arial"/>
              </a:rPr>
              <a:t>H₀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7B8F14-00C3-47D1-A92B-484A50066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495675"/>
            <a:ext cx="3190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Динамика k₂→k₅</a:t>
            </a:r>
          </a:p>
          <a:p xmlns:a="http://schemas.openxmlformats.org/drawingml/2006/main">
            <a:pPr algn="l">
              <a:defRPr sz="180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не улучшает прогноз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3A7C65-5866-4CD6-9BDD-198A7C4EB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52800"/>
            <a:ext cx="4629150" cy="1695450"/>
          </a:xfrm>
          <a:prstGeom xmlns:a="http://schemas.openxmlformats.org/drawingml/2006/main" prst="roundRect">
            <a:avLst>
              <a:gd name="adj" fmla="val 12360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20FFAF-4A0F-4B51-B2B3-5F04FE2E0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571875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118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F6B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6BFF"/>
                </a:solidFill>
                <a:latin typeface="Arial"/>
                <a:ea typeface="Arial"/>
                <a:cs typeface="Arial"/>
              </a:rPr>
              <a:t>H₁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F12C54-B51D-466C-B576-09A649D28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495675"/>
            <a:ext cx="3190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741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Динамика k₂→k₅</a:t>
            </a:r>
          </a:p>
          <a:p xmlns:a="http://schemas.openxmlformats.org/drawingml/2006/main">
            <a:pPr algn="l">
              <a:defRPr sz="180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даёт дополнительный сигнал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0842D8-894A-4852-A602-2F5C6D17A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524500"/>
            <a:ext cx="9029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Проверка: сравнить динамические признаки с сильной статической базовой моделью k₅ на закрытом тесте.</a:t>
            </a:r>
          </a:p>
        </p:txBody>
      </p:sp>
    </p:spTree>
    <p:extLst>
      <p:ext uri="{BB962C8B-B14F-4D97-AF65-F5344CB8AC3E}">
        <p14:creationId xmlns:p14="http://schemas.microsoft.com/office/powerpoint/2010/main" val="6837150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3AAE9D-C148-4C34-B6CE-F40EF06AA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694377-AA23-4ECE-86CB-7B9C02D48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6B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F6BFF"/>
                </a:solidFill>
                <a:latin typeface="Arial"/>
                <a:ea typeface="Arial"/>
                <a:cs typeface="Arial"/>
              </a:rPr>
              <a:t>ЭКСПЕРИМЕНТ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81CC61-B18C-4A12-A8F8-9C4B3AD2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Полный факторный дизайн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79AF75-7B2B-4281-AAA4-A9DBECE4B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049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FCEFBB-AD58-479A-A835-594A99271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3708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CAD247-6942-441C-A808-C8782BFC2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238125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022F3B-0E5C-4624-AE51-DABA84BCD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F96B0D-711B-49DF-8B6C-C8164961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43100"/>
            <a:ext cx="1952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F6B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F6BFF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CB7F99-00FF-42EA-A7C2-9859DF68D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90800"/>
            <a:ext cx="1952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проверенных фактов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BEA8E8-C25C-4CBF-80DC-B12E284AF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1145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439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63708A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B9D6AF-E7EE-4A77-AF7C-17B24143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752600"/>
            <a:ext cx="238125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A9F8BA-A083-4C1D-848F-65CE8ACC8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75260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C4B6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9C96E8-53A7-4950-B9C3-76028492E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943100"/>
            <a:ext cx="1952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EC4B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EC4B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9002A0-2E70-477B-AC00-C758D9B26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590800"/>
            <a:ext cx="1952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языка: EN · RU · KK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8FFA5C-6B52-488B-B85B-89006FAC3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1145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439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63708A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C73A49-3317-4915-8B52-55854D8A2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752600"/>
            <a:ext cx="238125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98D048-7E92-4F3E-88D0-75A0ABF41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75260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F47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995455-A99D-483E-A6E5-7CCA30D33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943100"/>
            <a:ext cx="1952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BF4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BF4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95A7DD-2FA8-442E-982F-64238FF7F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1952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модели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AC8E93-2C66-49AB-A415-2B93F3EF7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1145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439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63708A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22766C-E7A1-4518-8D92-1596AC334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752600"/>
            <a:ext cx="142875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54BEB5-0EDD-443E-9435-7EA2228C1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75260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240008-74F2-49B8-9008-78FF86925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1943100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6B6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6B6B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62F7BC-D6D4-4CC1-B0B3-93A6817DE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590800"/>
            <a:ext cx="1000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314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ответов на условие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C7D44C-E25C-44D5-A7B8-C5FA1DD8A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05250"/>
            <a:ext cx="7505700" cy="118110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81631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B6DDD8-E253-40A5-95ED-EE143F285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990975"/>
            <a:ext cx="238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5 400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87447F-5158-4EC3-B03B-1E77AEB2C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719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6D3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6D3EC"/>
                </a:solidFill>
                <a:latin typeface="Arial"/>
                <a:ea typeface="Arial"/>
                <a:cs typeface="Arial"/>
              </a:rPr>
              <a:t>ответов в воспроизводимом пилоте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0EFC5C-6541-4EFC-8414-3DA23250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581650"/>
            <a:ext cx="899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Цель = разделить влияние модели, языка, категории и ложной предпосылки.</a:t>
            </a:r>
          </a:p>
        </p:txBody>
      </p:sp>
    </p:spTree>
    <p:extLst>
      <p:ext uri="{BB962C8B-B14F-4D97-AF65-F5344CB8AC3E}">
        <p14:creationId xmlns:p14="http://schemas.microsoft.com/office/powerpoint/2010/main" val="128061779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10BDD3C-E559-4255-9652-EFEBF418A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408DAC-CC21-4C97-A0C9-CD57C3399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6B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F6BFF"/>
                </a:solidFill>
                <a:latin typeface="Arial"/>
                <a:ea typeface="Arial"/>
                <a:cs typeface="Arial"/>
              </a:rPr>
              <a:t>ДАННЫЕ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91E8ED-0B31-4844-90D7-EB00834D6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Бенчмарк сбалансирован по шести типам вопросов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CDA70C-6BEB-47E7-BE41-74BD00B3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049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2BB26E-DFB1-4DA5-A633-32B41F7EA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3708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4888F2-EC6B-4CEB-8B65-72874D07A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3219450" cy="1276350"/>
          </a:xfrm>
          <a:prstGeom xmlns:a="http://schemas.openxmlformats.org/drawingml/2006/main" prst="roundRect">
            <a:avLst>
              <a:gd name="adj" fmla="val 149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44E635-AACF-414B-A6A2-1E095E319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114300" cy="1276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183D48-5F3E-433D-8E17-B219F8B8B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924050"/>
            <a:ext cx="800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F6B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F6BFF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68C9DA-D814-4D81-AB8A-AA352F7F9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0383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История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44CED6-87EC-439E-8613-E50A031F7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2412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фактов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D2B652-0F6A-4171-AC4C-DDCAB9820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752600"/>
            <a:ext cx="3219450" cy="1276350"/>
          </a:xfrm>
          <a:prstGeom xmlns:a="http://schemas.openxmlformats.org/drawingml/2006/main" prst="roundRect">
            <a:avLst>
              <a:gd name="adj" fmla="val 149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A139DF-612B-4FF8-877C-EBC81E3E2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752600"/>
            <a:ext cx="114300" cy="1276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C4B6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84F507-B20A-4631-87EE-447DAF7A5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924050"/>
            <a:ext cx="800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EC4B6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EC4B6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374AD4-4CF5-4542-9EAA-69E1A95B8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0383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География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02F8E0-ED1E-4118-9F44-DD8D23355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52412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фактов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E5BDA1-8848-4FF8-9E48-21EB78028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752600"/>
            <a:ext cx="3219450" cy="1276350"/>
          </a:xfrm>
          <a:prstGeom xmlns:a="http://schemas.openxmlformats.org/drawingml/2006/main" prst="roundRect">
            <a:avLst>
              <a:gd name="adj" fmla="val 149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2E3BC0-B474-4105-B47A-FDBEBACC8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752600"/>
            <a:ext cx="114300" cy="1276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F47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AC6119-0647-4642-B372-159678392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924050"/>
            <a:ext cx="800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BF4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BF47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F3D5D4-2D4A-4B3E-8A5E-ADFFAF92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383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Наука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173117-6382-424E-9B3E-B585259F9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52412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фактов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2B72CA-77E7-4869-8ACE-210B83957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3219450" cy="1276350"/>
          </a:xfrm>
          <a:prstGeom xmlns:a="http://schemas.openxmlformats.org/drawingml/2006/main" prst="roundRect">
            <a:avLst>
              <a:gd name="adj" fmla="val 149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076EDD-E960-4616-9810-68667A781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114300" cy="1276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2817AC-37CB-47B5-AE4A-DA55E30B7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00450"/>
            <a:ext cx="800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6B6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6B6B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A619D0-74E5-4514-A183-8158075F7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7147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Культура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AAC18F-A64F-41B7-BD5A-B6E2623C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0052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фактов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EA3868-18CE-42C0-BE77-158B755CB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429000"/>
            <a:ext cx="3219450" cy="1276350"/>
          </a:xfrm>
          <a:prstGeom xmlns:a="http://schemas.openxmlformats.org/drawingml/2006/main" prst="roundRect">
            <a:avLst>
              <a:gd name="adj" fmla="val 149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0BD7B0-A387-4846-A261-E30AADECD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429000"/>
            <a:ext cx="114300" cy="1276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06B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EA6F59-DE3E-4271-9C77-7E1F92DCD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600450"/>
            <a:ext cx="800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2A06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2A06B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23977D0-B3CD-476C-AA1E-C8DF7642D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7147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Казахстан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5747B05-8BBD-4023-8924-77664C277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20052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фактов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244B1F2-AAE2-4909-B2F1-E474B61D0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429000"/>
            <a:ext cx="3219450" cy="1276350"/>
          </a:xfrm>
          <a:prstGeom xmlns:a="http://schemas.openxmlformats.org/drawingml/2006/main" prst="roundRect">
            <a:avLst>
              <a:gd name="adj" fmla="val 149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F5B6C1B-420A-4BAB-99A7-27DA516F3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429000"/>
            <a:ext cx="114300" cy="1276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1631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FCA1D32-3DC5-444B-A6A1-C5C59AA55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600450"/>
            <a:ext cx="800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8163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81631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B73CAE-E3CC-48EA-A518-C17D3E15A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7147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15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Ложная предпосылка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30B8265-1617-4C79-A6B6-97BF26744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20052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фактов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E70EAD1-6133-41ED-B390-D22F32C09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48300"/>
            <a:ext cx="8839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Каждый факт существует в эквивалентных формулировках EN / RU / KK.</a:t>
            </a:r>
          </a:p>
        </p:txBody>
      </p:sp>
    </p:spTree>
    <p:extLst>
      <p:ext uri="{BB962C8B-B14F-4D97-AF65-F5344CB8AC3E}">
        <p14:creationId xmlns:p14="http://schemas.microsoft.com/office/powerpoint/2010/main" val="4239508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279E6E-D49D-436E-B1C8-4314E0C6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9264F3-5904-4C3B-94D5-D646A3917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6B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F6BFF"/>
                </a:solidFill>
                <a:latin typeface="Arial"/>
                <a:ea typeface="Arial"/>
                <a:cs typeface="Arial"/>
              </a:rPr>
              <a:t>МЕТОД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8A9D04-9C6A-45E4-B4F7-AB56CD46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От ответов — к вероятности ошибки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BD1100-A97E-42D9-A0E8-1AE828DF7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049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33DA96-A774-4A1C-819E-36B466314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3708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34E2B5-8449-4300-B360-F20202CC1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14550"/>
            <a:ext cx="1790700" cy="6858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BE6BF0-C87D-4348-B10D-91556BD64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52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Target + 5 samples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57D257-51A4-483B-9FC5-A499D8D1F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114550"/>
            <a:ext cx="1619250" cy="6858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6B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56151C-EFCA-47BD-9380-DD69D02F0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190750"/>
            <a:ext cx="1352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Фактическая</a:t>
            </a:r>
          </a:p>
          <a:p xmlns:a="http://schemas.openxmlformats.org/drawingml/2006/main">
            <a:pPr algn="ctr">
              <a:defRPr sz="13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разметка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5D2FC3-8FE0-454E-91D3-846BD6100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14550"/>
            <a:ext cx="1619250" cy="6858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EC4B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8512D7-8A49-41AD-97FB-F92FD84E3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190750"/>
            <a:ext cx="1352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Смысловые</a:t>
            </a:r>
          </a:p>
          <a:p xmlns:a="http://schemas.openxmlformats.org/drawingml/2006/main">
            <a:pPr algn="ctr">
              <a:defRPr sz="13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кластеры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C9B5BF-6C57-4377-AC6B-88B18C79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114550"/>
            <a:ext cx="1619250" cy="6858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BF4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E46456-70F2-4FB7-975F-8A805D3A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190750"/>
            <a:ext cx="1352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Траектория</a:t>
            </a:r>
          </a:p>
          <a:p xmlns:a="http://schemas.openxmlformats.org/drawingml/2006/main">
            <a:pPr algn="ctr">
              <a:defRPr sz="13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k₂ → k₅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DE90BC-B68B-432B-A623-DB4A8AB21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14550"/>
            <a:ext cx="1619250" cy="6858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5DBB15-453E-4A2B-AEB1-614638ED7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90750"/>
            <a:ext cx="1352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P(ошибка)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1DFD19-2D37-4321-B568-CBA89873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114550"/>
            <a:ext cx="1619250" cy="6858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2A0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F55F73-205A-428A-99CB-0709BC7A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190750"/>
            <a:ext cx="1352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Locked test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EE3DAA-FEDC-46F8-AA4F-9A7CB0DB2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457450"/>
            <a:ext cx="171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F6B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1CC182-6A96-4108-9DD1-5677319D3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457450"/>
            <a:ext cx="171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F6B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EED7D7-7145-417E-BC4A-BDC91578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457450"/>
            <a:ext cx="171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F6B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D14E5D-2270-4A64-872D-DB007B359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457450"/>
            <a:ext cx="171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F6B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3AA339-00F6-4CB6-9E4A-20FCD0FF5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457450"/>
            <a:ext cx="171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F6B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7E2F43-E8E3-4EFC-A86F-F424223AF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714750"/>
            <a:ext cx="8458200" cy="1143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65F22B-5189-49DC-B89F-E3BBA7358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9052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6B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F6BFF"/>
                </a:solidFill>
                <a:latin typeface="Arial"/>
                <a:ea typeface="Arial"/>
                <a:cs typeface="Arial"/>
              </a:rPr>
              <a:t>Признаки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513DBE-A523-46CA-A755-E88B44E7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800475"/>
            <a:ext cx="666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энтропия · число кластеров · поддержка target · максимальная доля кластера · скорость изменения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B72443-31FC-4715-B2EC-4CC233510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41007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Смысл сравнивается, а не совпадение отдельных слов.</a:t>
            </a:r>
          </a:p>
        </p:txBody>
      </p:sp>
    </p:spTree>
    <p:extLst>
      <p:ext uri="{BB962C8B-B14F-4D97-AF65-F5344CB8AC3E}">
        <p14:creationId xmlns:p14="http://schemas.microsoft.com/office/powerpoint/2010/main" val="45582532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D43B9D8-1748-4CE4-AE75-4C7D3F0CD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2A0DD4-2726-4908-9CCF-AF590D22B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6B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F6BFF"/>
                </a:solidFill>
                <a:latin typeface="Arial"/>
                <a:ea typeface="Arial"/>
                <a:cs typeface="Arial"/>
              </a:rPr>
              <a:t>КОНТРОЛЬ КАЧЕСТВА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D7490C-AB79-49D6-88D9-80BC2B52F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Данные доведены до проверяемого состояния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6E86BC-F20F-4101-A90B-8BA328D2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049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C5A4C8-FAE0-435F-98F5-39BFDDA19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3708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0EBBB2-9D0A-40F8-8B48-EEDF2BEB6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24003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EC1B28-6D10-40B6-91C1-95EFE956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DE30F0-0B7A-4CD5-960A-A5973E0A6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85950"/>
            <a:ext cx="19716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F6B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F6BFF"/>
                </a:solidFill>
                <a:latin typeface="Arial"/>
                <a:ea typeface="Arial"/>
                <a:cs typeface="Arial"/>
              </a:rPr>
              <a:t>5 400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DA5643-8C0F-4F07-92DA-DC5066ACD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1971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879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из 5 400 ответов получено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A83E73-0561-4E8E-B21D-FEBAB35EC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695450"/>
            <a:ext cx="24003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BC2DB3-5163-4B11-8A74-E596E6A0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69545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06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6E7157-BFCD-44A7-A1DB-922C1EC2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85950"/>
            <a:ext cx="19716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2A06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2A06B"/>
                </a:solidFill>
                <a:latin typeface="Arial"/>
                <a:ea typeface="Arial"/>
                <a:cs typeface="Arial"/>
              </a:rPr>
              <a:t>866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2B30D6-42CF-43EF-A1E9-1ED549DC2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533650"/>
            <a:ext cx="1971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полных кейсов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536D29-EBED-476C-BD21-6F4C4055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695450"/>
            <a:ext cx="24003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B09A84-7317-47C7-9B90-B988508B5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69545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AA95BA-4745-4194-858B-ACA308D2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85950"/>
            <a:ext cx="19716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6B6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6B6B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B72978-DD85-4191-85B7-7264D4539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533650"/>
            <a:ext cx="1971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invalid / truncated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275E29-5DB3-4EC3-915D-3BB64117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695450"/>
            <a:ext cx="310515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5F9DA5-29B4-4C55-834A-E48EF57F4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69545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C4B6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5F14BA-F4F9-4153-A9D9-9601CBB25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885950"/>
            <a:ext cx="26765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EC4B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EC4B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752610-AA94-480B-A8E5-96CA13ECC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533650"/>
            <a:ext cx="26765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дублированных ключей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66F678-6528-4B4B-8595-3905259F8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10820400" cy="1428750"/>
          </a:xfrm>
          <a:prstGeom xmlns:a="http://schemas.openxmlformats.org/drawingml/2006/main" prst="roundRect">
            <a:avLst>
              <a:gd name="adj" fmla="val 14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0E9A92-51B3-4B10-9AB4-D90B8A5AA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43350"/>
            <a:ext cx="123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982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F6B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F6BFF"/>
                </a:solidFill>
                <a:latin typeface="Arial"/>
                <a:ea typeface="Arial"/>
                <a:cs typeface="Arial"/>
              </a:rPr>
              <a:t>889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5DF9E0-66D6-4B2B-A84E-4AAD51B4B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010025"/>
            <a:ext cx="2809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доступных factual-меток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069847-F1ED-4808-9FE9-A6F891578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943350"/>
            <a:ext cx="95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982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6B6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6B6B"/>
                </a:solidFill>
                <a:latin typeface="Arial"/>
                <a:ea typeface="Arial"/>
                <a:cs typeface="Arial"/>
              </a:rPr>
              <a:t>732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60805B-39BA-4BE9-B178-D49D7DA30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1002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322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проверены человеком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47A601D-0CEC-4042-8A97-64D5B3201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943350"/>
            <a:ext cx="95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982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EC4B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EC4B6"/>
                </a:solidFill>
                <a:latin typeface="Arial"/>
                <a:ea typeface="Arial"/>
                <a:cs typeface="Arial"/>
              </a:rPr>
              <a:t>157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B11062-D911-4FC7-A7C8-D7E624672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010025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110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точные auto-match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1913FA6-A39F-4A4B-8F09-8CB4EFE9A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514975"/>
            <a:ext cx="929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11 ответов оставлены без бинарной оценки: для обрыва нельзя честно угадывать 0 или 1.</a:t>
            </a:r>
          </a:p>
        </p:txBody>
      </p:sp>
    </p:spTree>
    <p:extLst>
      <p:ext uri="{BB962C8B-B14F-4D97-AF65-F5344CB8AC3E}">
        <p14:creationId xmlns:p14="http://schemas.microsoft.com/office/powerpoint/2010/main" val="190876539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58B9A61-2A95-4648-A529-C25D5CA20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03205D-B4A0-4851-811C-69B120660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6B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F6BFF"/>
                </a:solidFill>
                <a:latin typeface="Arial"/>
                <a:ea typeface="Arial"/>
                <a:cs typeface="Arial"/>
              </a:rPr>
              <a:t>ПРЕДВАРИТЕЛЬНЫЕ РЕЗУЛЬТАТЫ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F43DA9-7DB8-414F-8F3D-A895AE099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Казахский язык оказался самым сложным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4880F9-3127-4D50-B49C-C18280EC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049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F90354-69F4-41A0-8BED-F6C372888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3708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388DE3-1063-442C-8164-179ACD7F6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Доля фактических ошибок по языку (%)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602A5F-CC0E-4A10-94BE-27556F8E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209800"/>
            <a:ext cx="0" cy="2790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CD4E62-EF94-4B69-8B73-3793A6275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0768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3708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0023A9-7692-4589-80BC-60EFD9B1F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209800"/>
            <a:ext cx="0" cy="2790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C8BA79-8817-4F83-8720-6CE5DBCF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50768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B84C75-40BF-4E82-9289-18150C58B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09800"/>
            <a:ext cx="0" cy="2790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18A369-FCFC-467E-9A3B-422566D83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0768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EF22AF-80E0-4DAA-8F51-02DA8DF6D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209800"/>
            <a:ext cx="0" cy="2790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61121C-44DC-4F1E-9B94-2CA38D3B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50768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CED93F-86E3-4E84-9167-34821219E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209800"/>
            <a:ext cx="0" cy="2790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1C5A2F-E8A6-4651-9526-CCB6CC979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0768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F0FF4E-589B-40E8-9D99-073A517A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209800"/>
            <a:ext cx="0" cy="2790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B727DF-9C2D-44D5-8953-490DA4018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50768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AE45AE-2143-464D-9CFF-8035455F9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209800"/>
            <a:ext cx="0" cy="2790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46E7AF-6B6C-415A-A4F7-A5BD37998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50768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C25FF0-76C8-4F40-A7C8-51077FC62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03488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KK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CF3A0B-F5E3-43B9-8FF7-3006047AE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408238"/>
            <a:ext cx="5306663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6A74BF-F1CD-470E-AF33-E2107B108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3063" y="2503488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26,5%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1EC7E5-C940-4683-ABBA-7890A4EE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33763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RU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B3EED2-52C8-44B6-8511-416889713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338513"/>
            <a:ext cx="3570446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009271B-AABD-4D95-86AF-714D697FC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6846" y="3433763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17,9%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538DBE-51DC-4B6D-AC92-2DBEC1E9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64038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EN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4D22E4-829B-42AF-B5C1-0C4A9AB13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268788"/>
            <a:ext cx="2954369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E7E15C-5F2F-4BF6-9A27-1C5D38597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0769" y="4364038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14,8%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13A2662-6A32-4708-815B-F6092F021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14550"/>
            <a:ext cx="238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6B6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6B6B"/>
                </a:solidFill>
                <a:latin typeface="Arial"/>
                <a:ea typeface="Arial"/>
                <a:cs typeface="Arial"/>
              </a:rPr>
              <a:t>26,5%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A322A43-87F3-4D2B-A11B-B525D46C3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622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ошибок в KK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420BE4E-C359-4E0E-90B4-2B3BCE040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0042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6B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6BFF"/>
                </a:solidFill>
                <a:latin typeface="Arial"/>
                <a:ea typeface="Arial"/>
                <a:cs typeface="Arial"/>
              </a:rPr>
              <a:t>+11,8 п.п. к EN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94ACBB6-7B5C-477A-A132-C632A420E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000500"/>
            <a:ext cx="2628900" cy="1104900"/>
          </a:xfrm>
          <a:prstGeom xmlns:a="http://schemas.openxmlformats.org/drawingml/2006/main" prst="roundRect">
            <a:avLst>
              <a:gd name="adj" fmla="val 15517"/>
            </a:avLst>
          </a:prstGeom>
          <a:solidFill xmlns:a="http://schemas.openxmlformats.org/drawingml/2006/main">
            <a:srgbClr val="FFF0EF"/>
          </a:solidFill>
          <a:ln xmlns:a="http://schemas.openxmlformats.org/drawingml/2006/main" w="0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A4BEE84-AF9A-444C-AD8D-30EE082A1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171950"/>
            <a:ext cx="2209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Сигнал для отдельной</a:t>
            </a:r>
          </a:p>
          <a:p xmlns:a="http://schemas.openxmlformats.org/drawingml/2006/main">
            <a:pPr algn="ctr">
              <a:defRPr sz="13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калибровки по языкам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F69CF86-E540-4A18-92E7-0D5ED7E1F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293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n: EN 298 · RU 297 · KK 294 оцениваемых target-ответа</a:t>
            </a:r>
          </a:p>
        </p:txBody>
      </p:sp>
    </p:spTree>
    <p:extLst>
      <p:ext uri="{BB962C8B-B14F-4D97-AF65-F5344CB8AC3E}">
        <p14:creationId xmlns:p14="http://schemas.microsoft.com/office/powerpoint/2010/main" val="138742539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12E972-D9A1-41AB-AE80-F2290B15D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9E5313-D983-4B23-A83E-B8641E88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6B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F6BFF"/>
                </a:solidFill>
                <a:latin typeface="Arial"/>
                <a:ea typeface="Arial"/>
                <a:cs typeface="Arial"/>
              </a:rPr>
              <a:t>ПРЕДВАРИТЕЛЬНЫЕ РЕЗУЛЬТАТЫ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257532-6693-46BE-BE59-CFF21F833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Разброс между моделями меньше, чем между категориями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25B585-4B10-48D7-9F6C-09630381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049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D1B8FF-1C30-4F80-920A-8E283318B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3708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EB5E05-6A32-4F15-AF6B-C6A4ED231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1925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Доля фактических ошибок по модели (%)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8EC6B0-D225-4485-8CB1-8B0CEA48C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209800"/>
            <a:ext cx="0" cy="2790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88F470-DB5E-4449-9796-846B680C8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0768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3708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48D5D7-7601-43E5-87C7-33C9CC52B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0880" y="2209800"/>
            <a:ext cx="0" cy="2790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D3EA9D-2C6E-4F81-9569-2A1A4E50F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380" y="50768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D875A2-E14E-441A-9F9C-015BB2AB1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5310" y="2209800"/>
            <a:ext cx="0" cy="2790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8939FD-0E17-4FD8-91C5-590EA6D5F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4810" y="50768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E81DF6-DFCE-454E-BB93-55E164F8F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9740" y="2209800"/>
            <a:ext cx="0" cy="2790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84EF99-B124-42C2-AB84-F26F7A5AF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50768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1A1EE5-4FD8-4C66-9A29-FAF85BB93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4170" y="2209800"/>
            <a:ext cx="0" cy="2790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A31139-25BC-45B0-B988-3607DA90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3670" y="50768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AC9382-5D10-4164-AF22-65A82EB60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209800"/>
            <a:ext cx="0" cy="2790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B56A14-5DD7-4D9A-8F24-5C83BE934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768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822779-9210-4C65-B464-D5189ECE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03488"/>
            <a:ext cx="1123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GPT-OSS 20B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68CA7F-F8EC-44DA-82E2-16B19E022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408238"/>
            <a:ext cx="5363482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F99EEE-52F0-4371-93D7-88F593E5C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6132" y="2503488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23,2%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93564F-990D-473C-920B-F1D58B912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33763"/>
            <a:ext cx="1123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Qwen 3.8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8F7718-D2FA-4196-BE7C-2BAB8DB4F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338513"/>
            <a:ext cx="4885548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3D87EB-E0A4-4F91-84D9-6221F7095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198" y="3433763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21,2%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C20E9C-C0ED-4BDF-BFF8-0E1645146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64038"/>
            <a:ext cx="1123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Qwen 3.6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70E47D-CD2E-416F-A5E7-B41036D9A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268788"/>
            <a:ext cx="3398642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C4B6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73146B-915F-4DF1-9ADD-7918C156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1292" y="4364038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14,7%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B8296C-7BDC-47C6-83FB-6E34AA5F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7170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FF6B6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6B6B"/>
                </a:solidFill>
                <a:latin typeface="Arial"/>
                <a:ea typeface="Arial"/>
                <a:cs typeface="Arial"/>
              </a:rPr>
              <a:t>8,5 п.п.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67B941-E153-4813-AEE6-E1164998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7432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разница max–min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E5FE911-6BAC-423C-A917-14BCCDCEB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638550"/>
            <a:ext cx="2686050" cy="1276350"/>
          </a:xfrm>
          <a:prstGeom xmlns:a="http://schemas.openxmlformats.org/drawingml/2006/main" prst="roundRect">
            <a:avLst>
              <a:gd name="adj" fmla="val 134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9FC6341-9C85-46B1-9B7A-3C11B0AF3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781425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6B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6BFF"/>
                </a:solidFill>
                <a:latin typeface="Arial"/>
                <a:ea typeface="Arial"/>
                <a:cs typeface="Arial"/>
              </a:rPr>
              <a:t>Вывод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CF732A8-307A-4030-B9A1-EE7A1334F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48125"/>
            <a:ext cx="2190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Модель важна, но</a:t>
            </a:r>
          </a:p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содержание вопроса</a:t>
            </a:r>
          </a:p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влияет сильнее.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27AB127-5379-46A1-BFE0-4BFA689D6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293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n: Qwen 3.6 — 299 · Qwen 3.8 — 293 · GPT-OSS 20B — 297</a:t>
            </a:r>
          </a:p>
        </p:txBody>
      </p:sp>
    </p:spTree>
    <p:extLst>
      <p:ext uri="{BB962C8B-B14F-4D97-AF65-F5344CB8AC3E}">
        <p14:creationId xmlns:p14="http://schemas.microsoft.com/office/powerpoint/2010/main" val="67600002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FA3022A-446F-495E-A205-451EAB380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5E063D-D460-4D14-AFB7-F63B7DE97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6B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F6BFF"/>
                </a:solidFill>
                <a:latin typeface="Arial"/>
                <a:ea typeface="Arial"/>
                <a:cs typeface="Arial"/>
              </a:rPr>
              <a:t>ПРЕДВАРИТЕЛЬНЫЕ РЕЗУЛЬТАТЫ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CBBBBD-10F0-4BE2-A2A2-B079E059B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Главный риск — локальные знания и ложные предпосылки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A1252E-F9CA-4B30-B20F-405712E7B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049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71D25D-077A-424C-839F-17030B150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3708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27D545-D195-4298-BC4B-DFAEDA188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24000"/>
            <a:ext cx="828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Доля фактических ошибок по категории (%)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6C4FB1-AB1C-49DA-9054-AC1464B26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14550"/>
            <a:ext cx="0" cy="3124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9CDD31-4048-4A16-9466-D8DBB0F9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3149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3708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DB92B8-AE11-4A42-B4B1-0748ECD10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8675" y="2114550"/>
            <a:ext cx="0" cy="3124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5F24E3-06CE-4391-A408-C531561B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8175" y="53149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478913-E42C-4C86-99E8-F0AAFFBB4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4200" y="2114550"/>
            <a:ext cx="0" cy="3124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860B8D-73EC-4306-89C4-3E981DB1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3700" y="53149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22E33C-3AB1-46EE-AB2D-50A506CEE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114550"/>
            <a:ext cx="0" cy="3124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535AA2-0B14-4B5C-871E-B1D195ED5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53149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38D5D3-1075-4B74-A0B7-B1F1147E9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2114550"/>
            <a:ext cx="0" cy="3124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173342-2E6A-4F61-ABD3-60344FE58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750" y="53149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FBEF8F-BCDC-4D1E-B6BF-39EB8C46B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775" y="2114550"/>
            <a:ext cx="0" cy="3124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9C694F-9F97-4A05-8F2C-62B02A5C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275" y="53149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F346DF-75C9-4D96-A566-FF617D891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114550"/>
            <a:ext cx="0" cy="3124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305C72-EFE8-43B1-A075-D0BC670F0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3149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60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C889D1-23D9-40FC-8B2B-CE225D3B9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3450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Казахстан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7FB6E4-E7BE-4889-ABDE-C2DACBFD1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213483"/>
            <a:ext cx="5344011" cy="32283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9D0293-938F-42B6-B553-457EC0CBD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3361" y="220345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52,1%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4D10A1-4596-4A7D-83B9-1201B02F7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761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Ложная предпосылка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939A55-CDF0-4C5C-9711-5F4B52BB0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34183"/>
            <a:ext cx="3244761" cy="32283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F47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B37E231-542E-45FB-9CC5-3C9FBC1BE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4111" y="272415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31,6%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E96DE4-EDF7-4EC1-9032-FE43F4CEE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44850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Культура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41DC96-B1FF-4605-AE53-F1E7A3423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4883"/>
            <a:ext cx="1412148" cy="32283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B83BB21-39B1-4BE7-A9D6-B2D930398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1498" y="324485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13,8%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4DABE6-31F4-417C-89C2-FAB638C74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65550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История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E2622D-065D-4347-9604-9C9CEAAED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775583"/>
            <a:ext cx="1139358" cy="32283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31DD550-A56C-47CC-B4C4-1A89A492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708" y="376555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11,1%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A47115-DAA4-4A81-A93F-DA4295788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География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A8C9E32-B586-4905-BE6B-22FA2765E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296283"/>
            <a:ext cx="570192" cy="32283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C4B6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6474845-01E4-4B6D-92C9-D9A8B39B1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9542" y="428625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5,6%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8ED491E-9A06-41D7-8078-E54053CFE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06950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Наука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E87BB14-E6B0-4565-9793-F10621DD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816983"/>
            <a:ext cx="142548" cy="32283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C4B6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8FEC3B5-514A-425E-882E-F7871FEFA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1898" y="480695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1,4%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49C24B9-F8FD-4381-9863-663FCEEE8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076450"/>
            <a:ext cx="2095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375" b="1">
                <a:solidFill>
                  <a:srgbClr val="FF6B6B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F6B6B"/>
                </a:solidFill>
                <a:latin typeface="Arial"/>
                <a:ea typeface="Arial"/>
                <a:cs typeface="Arial"/>
              </a:rPr>
              <a:t>52,1%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31B420A-EFAD-461B-9B26-7877B693B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67652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474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Казахстан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6D1564A-0F78-41CD-8AAC-748C4CC62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543300"/>
            <a:ext cx="2095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375" b="1">
                <a:solidFill>
                  <a:srgbClr val="FFBF4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FBF47"/>
                </a:solidFill>
                <a:latin typeface="Arial"/>
                <a:ea typeface="Arial"/>
                <a:cs typeface="Arial"/>
              </a:rPr>
              <a:t>31,6%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DF65D53-9B0A-498F-B6D4-7397EB59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1433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ложная предпосылка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3DCF211-6BC2-4BF7-8FD8-FAF5D693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972175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Вывод относится к этому набору вопросов; перенос на другие домены нужно проверять отдельно.</a:t>
            </a:r>
          </a:p>
        </p:txBody>
      </p:sp>
    </p:spTree>
    <p:extLst>
      <p:ext uri="{BB962C8B-B14F-4D97-AF65-F5344CB8AC3E}">
        <p14:creationId xmlns:p14="http://schemas.microsoft.com/office/powerpoint/2010/main" val="132777431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288871-9CA6-420D-BFE8-F44710186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0CF07D-C994-43A8-9A1C-3771903FA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6B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F6BFF"/>
                </a:solidFill>
                <a:latin typeface="Arial"/>
                <a:ea typeface="Arial"/>
                <a:cs typeface="Arial"/>
              </a:rPr>
              <a:t>ИТОГОВЫЙ РЕЗУЛЬТАТ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DA2AF6-E279-4934-B1F0-41362BCBF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Динамическая модель прошла locked test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06A0AA-8A29-4E7E-94C8-152CA271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049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9DC9CE-F8EB-43EA-B7B5-54B9D9F4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3708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4AC5BB-E09A-4E67-B989-E8F731418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24003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9C4551-4970-4737-9843-D0DBB5CA4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5EFB73-5E4F-44BA-8762-8FEA1B12C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85950"/>
            <a:ext cx="19716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F6B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F6BFF"/>
                </a:solidFill>
                <a:latin typeface="Arial"/>
                <a:ea typeface="Arial"/>
                <a:cs typeface="Arial"/>
              </a:rPr>
              <a:t>0,879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3EB527-AA88-4FE0-A032-474F5B4F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1971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AUROC · test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721A52-6776-4BD8-8B50-F11939EFE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695450"/>
            <a:ext cx="24003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6B566D-B857-4282-8AE5-7E7E3FC9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69545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C4B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06292A-5CFE-4C1D-AC39-D00771D80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85950"/>
            <a:ext cx="19716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EC4B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EC4B6"/>
                </a:solidFill>
                <a:latin typeface="Arial"/>
                <a:ea typeface="Arial"/>
                <a:cs typeface="Arial"/>
              </a:rPr>
              <a:t>0,622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7E30FE-03DA-43F8-895F-8D9687E32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533650"/>
            <a:ext cx="1971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AUPRC · 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1C5B40-FBD7-4850-B17A-AE9056536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695450"/>
            <a:ext cx="24003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184836-93D1-4780-A5E4-37B5B5453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69545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06B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A0C677-D657-4370-9B89-444079123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85950"/>
            <a:ext cx="19716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2A06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2A06B"/>
                </a:solidFill>
                <a:latin typeface="Arial"/>
                <a:ea typeface="Arial"/>
                <a:cs typeface="Arial"/>
              </a:rPr>
              <a:t>0,457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58E8AC-9141-4C61-B570-44E66CC6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533650"/>
            <a:ext cx="1971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F1 · test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7039BA-9879-48DA-82EC-EB390005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695450"/>
            <a:ext cx="310515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9F9B55-5C0E-4DA1-8305-D7AB95C0E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69545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083880-A091-4E23-B217-106176A2C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885950"/>
            <a:ext cx="26765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6B6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6B6B"/>
                </a:solidFill>
                <a:latin typeface="Arial"/>
                <a:ea typeface="Arial"/>
                <a:cs typeface="Arial"/>
              </a:rPr>
              <a:t>131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2CE7A1-A8C8-4E02-8931-0231BB25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533650"/>
            <a:ext cx="26765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test cases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A9448E-D50C-4427-A513-2E8E17C9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10820400" cy="1428750"/>
          </a:xfrm>
          <a:prstGeom xmlns:a="http://schemas.openxmlformats.org/drawingml/2006/main" prst="roundRect">
            <a:avLst>
              <a:gd name="adj" fmla="val 14667"/>
            </a:avLst>
          </a:prstGeom>
          <a:solidFill xmlns:a="http://schemas.openxmlformats.org/drawingml/2006/main">
            <a:srgbClr val="081631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D5FF17-EFA8-4C3A-870B-958FFE093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624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EC4B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EC4B6"/>
                </a:solidFill>
                <a:latin typeface="Arial"/>
                <a:ea typeface="Arial"/>
                <a:cs typeface="Arial"/>
              </a:rPr>
              <a:t>95% CI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BAEB29-3845-493A-A75B-3E045932A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76675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AUROC  0,817–0,934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15CCE9-0EC2-48C5-B7BB-E27488695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876675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AUPRC  0,365–0,782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C02B90-389C-4134-B937-FBA8EECB6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386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C6D3E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6D3EC"/>
                </a:solidFill>
                <a:latin typeface="Arial"/>
                <a:ea typeface="Arial"/>
                <a:cs typeface="Arial"/>
              </a:rPr>
              <a:t>1 000 bootstrap resamples по fact_id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749C6B-C0B2-4139-B937-10CB5493F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14975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Модель и threshold были зафиксированы до однократного открытия test.</a:t>
            </a:r>
          </a:p>
        </p:txBody>
      </p:sp>
    </p:spTree>
    <p:extLst>
      <p:ext uri="{BB962C8B-B14F-4D97-AF65-F5344CB8AC3E}">
        <p14:creationId xmlns:p14="http://schemas.microsoft.com/office/powerpoint/2010/main" val="84904695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CFF359-85B6-466C-B25E-196F42C21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057E4C-ED9A-471C-8833-89988860F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6B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F6BFF"/>
                </a:solidFill>
                <a:latin typeface="Arial"/>
                <a:ea typeface="Arial"/>
                <a:cs typeface="Arial"/>
              </a:rPr>
              <a:t>ПРОВЕРКА ГИПОТЕЗЫ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E3CE11-92AE-42AB-8B98-782EBEB54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Траектория добавляет сигнал сверх static k₅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BF8998-3E7D-4B17-AB02-B5B2CC390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049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A6C904-5B15-490B-976E-70C47BCF5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3708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6DCD69-569B-4203-A64D-97E8252B5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4953000" cy="3181350"/>
          </a:xfrm>
          <a:prstGeom xmlns:a="http://schemas.openxmlformats.org/drawingml/2006/main" prst="roundRect">
            <a:avLst>
              <a:gd name="adj" fmla="val 71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BF96C7-51B9-43E2-91A5-516A8CE7D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002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3708A"/>
                </a:solidFill>
                <a:latin typeface="Arial"/>
                <a:ea typeface="Arial"/>
                <a:cs typeface="Arial"/>
              </a:rPr>
              <a:t>STATIC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E584E4-1169-4FD3-A77C-F9B5C9E20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09825"/>
            <a:ext cx="2476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0,842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A53F6B-6EFE-4DF6-B5A5-EC86EDBAC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337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AUROC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898751-FD8F-4299-B797-B616D250F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819525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final semantic features k₅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E0927A-6573-4B9F-B8A1-8348F4735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695450"/>
            <a:ext cx="5638800" cy="3181350"/>
          </a:xfrm>
          <a:prstGeom xmlns:a="http://schemas.openxmlformats.org/drawingml/2006/main" prst="roundRect">
            <a:avLst>
              <a:gd name="adj" fmla="val 7186"/>
            </a:avLst>
          </a:prstGeom>
          <a:solidFill xmlns:a="http://schemas.openxmlformats.org/drawingml/2006/main">
            <a:srgbClr val="081631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586209-E096-4D5A-B9F1-120B2C26C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EC4B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EC4B6"/>
                </a:solidFill>
                <a:latin typeface="Arial"/>
                <a:ea typeface="Arial"/>
                <a:cs typeface="Arial"/>
              </a:rPr>
              <a:t>DYNAMIC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9C7634-2CBA-4B95-A3D7-FB813EEAF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09825"/>
            <a:ext cx="266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0,879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FC284D-1A4A-440C-938E-E969D9E51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337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6D3E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6D3EC"/>
                </a:solidFill>
                <a:latin typeface="Arial"/>
                <a:ea typeface="Arial"/>
                <a:cs typeface="Arial"/>
              </a:rPr>
              <a:t>AUROC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186AD6-3D12-4723-AF1F-1A2C5571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19525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6D3E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6D3EC"/>
                </a:solidFill>
                <a:latin typeface="Arial"/>
                <a:ea typeface="Arial"/>
                <a:cs typeface="Arial"/>
              </a:rPr>
              <a:t>trajectory features k₂ → k₅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EEF2DE-6F89-420C-B603-451B826EB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51460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8F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4C8C18-F529-458B-A406-BD545A482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5336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2A06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2A06B"/>
                </a:solidFill>
                <a:latin typeface="Arial"/>
                <a:ea typeface="Arial"/>
                <a:cs typeface="Arial"/>
              </a:rPr>
              <a:t>Δ +0,038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F97D6A-A8CB-4B7C-82FA-7C1296316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381625"/>
            <a:ext cx="819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2A06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2A06B"/>
                </a:solidFill>
                <a:latin typeface="Arial"/>
                <a:ea typeface="Arial"/>
                <a:cs typeface="Arial"/>
              </a:rPr>
              <a:t>Bootstrap CI разницы AUROC: +0,001 … +0,084</a:t>
            </a:r>
          </a:p>
        </p:txBody>
      </p:sp>
    </p:spTree>
    <p:extLst>
      <p:ext uri="{BB962C8B-B14F-4D97-AF65-F5344CB8AC3E}">
        <p14:creationId xmlns:p14="http://schemas.microsoft.com/office/powerpoint/2010/main" val="111531967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3C2A681-65A1-41F9-8C00-D8A2C96C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5AAD34-0D18-4DC7-8F81-52759BD2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6B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F6BFF"/>
                </a:solidFill>
                <a:latin typeface="Arial"/>
                <a:ea typeface="Arial"/>
                <a:cs typeface="Arial"/>
              </a:rPr>
              <a:t>ИНЖЕНЕРИЯ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7914DB-76E0-432E-8FB8-DD0911C17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Результат можно воспроизвести и проверить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A0471A-4F98-42C0-8B20-258226D6A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049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B519C0-5F95-4513-9AEF-B7885E51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3708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E6E6A1-1DE9-4DFB-9E3A-D9AFADF8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1924050" cy="2000250"/>
          </a:xfrm>
          <a:prstGeom xmlns:a="http://schemas.openxmlformats.org/drawingml/2006/main" prst="roundRect">
            <a:avLst>
              <a:gd name="adj" fmla="val 990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B5993C-A458-438F-9A96-3809A0FB3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3360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3708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78CEA9-C8CD-48C5-89CE-49FBF2D7C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1543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09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Стабильные ключи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C0B70C-AE30-49F5-A86A-E4C285DC9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67075"/>
            <a:ext cx="1543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4E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B63845-17C9-438C-8BBA-D6F9A88CE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717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case/model/lang/sample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B74EC9-ECB5-4471-9399-8FDD4A18C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943100"/>
            <a:ext cx="1924050" cy="2000250"/>
          </a:xfrm>
          <a:prstGeom xmlns:a="http://schemas.openxmlformats.org/drawingml/2006/main" prst="roundRect">
            <a:avLst>
              <a:gd name="adj" fmla="val 990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21B670-A5DD-44E9-8571-412D1B8D9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13360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3708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29B5EF-0359-4609-97C0-96EE0097F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647950"/>
            <a:ext cx="1543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SQLite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9AEC88-49BE-4730-A854-9FC7B362A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267075"/>
            <a:ext cx="1543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4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82BAF6-1A3A-4280-AE61-D9CC51F2F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42900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1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состояние и повторы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F5D71F-F44B-491A-BD9D-26A3916AC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943100"/>
            <a:ext cx="1924050" cy="2000250"/>
          </a:xfrm>
          <a:prstGeom xmlns:a="http://schemas.openxmlformats.org/drawingml/2006/main" prst="roundRect">
            <a:avLst>
              <a:gd name="adj" fmla="val 990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FFE9EA-D8C4-4B00-8C5F-27614C179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13360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3708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60A0E9-AAB1-426F-AD14-04BCE0941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647950"/>
            <a:ext cx="1543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478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Retry + backoff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CA594D-9BCE-4787-9507-57A9A1AD4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267075"/>
            <a:ext cx="1543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4E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69D11F-DA8F-4C1C-B592-EA8D83ED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42900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устойчивость к API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82DEA3-E9AA-4152-821F-53F21436E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943100"/>
            <a:ext cx="1924050" cy="2000250"/>
          </a:xfrm>
          <a:prstGeom xmlns:a="http://schemas.openxmlformats.org/drawingml/2006/main" prst="roundRect">
            <a:avLst>
              <a:gd name="adj" fmla="val 990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0B44F2-1BC3-40CC-A657-C89D402D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13360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3708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64F0B5-A334-4E1E-8B96-B2308EEE2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47950"/>
            <a:ext cx="1543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Хэши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6E14B9-13BC-475B-B619-D67E0DE7B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267075"/>
            <a:ext cx="1543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4E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85B965-4FCC-4917-A6D2-220DD766B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42900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контроль входов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D04747-4D87-4D68-9BBB-BCCCAB2CC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943100"/>
            <a:ext cx="1924050" cy="2000250"/>
          </a:xfrm>
          <a:prstGeom xmlns:a="http://schemas.openxmlformats.org/drawingml/2006/main" prst="roundRect">
            <a:avLst>
              <a:gd name="adj" fmla="val 9901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DA80F8-24BE-41CA-B3FE-FF0956BE1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3360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6B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6B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3138F8-A48D-4EFA-A432-0622782F8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647950"/>
            <a:ext cx="1543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09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Версионирование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34F61C-1FC4-47C4-AE04-C56ADB829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67075"/>
            <a:ext cx="1543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A2507E-1027-4AB6-9EB6-73D9D64D7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42900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503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3708A"/>
                </a:solidFill>
                <a:latin typeface="Arial"/>
                <a:ea typeface="Arial"/>
                <a:cs typeface="Arial"/>
              </a:rPr>
              <a:t>v1 → v4 без перезаписи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84B8C5-B80E-4F45-A86F-F51541B6B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591050"/>
            <a:ext cx="8648700" cy="971550"/>
          </a:xfrm>
          <a:prstGeom xmlns:a="http://schemas.openxmlformats.org/drawingml/2006/main" prst="roundRect">
            <a:avLst>
              <a:gd name="adj" fmla="val 19608"/>
            </a:avLst>
          </a:prstGeom>
          <a:solidFill xmlns:a="http://schemas.openxmlformats.org/drawingml/2006/main">
            <a:srgbClr val="081631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1FC1DC2-CD11-4D1B-A4D1-D6AE2D2E6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7625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EC4B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EC4B6"/>
                </a:solidFill>
                <a:latin typeface="Arial"/>
                <a:ea typeface="Arial"/>
                <a:cs typeface="Arial"/>
              </a:rPr>
              <a:t>0 дублей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C02103E-C14F-4C8A-96C2-24AA28603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781550"/>
            <a:ext cx="601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каждый результат связан с точным условием, моделью, языком и запуском</a:t>
            </a:r>
          </a:p>
        </p:txBody>
      </p:sp>
    </p:spTree>
    <p:extLst>
      <p:ext uri="{BB962C8B-B14F-4D97-AF65-F5344CB8AC3E}">
        <p14:creationId xmlns:p14="http://schemas.microsoft.com/office/powerpoint/2010/main" val="212227919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34DE280-4D06-4A95-8859-982C77516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12CF85-8FE4-41FF-BBE7-CF64EA32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6B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F6BFF"/>
                </a:solidFill>
                <a:latin typeface="Arial"/>
                <a:ea typeface="Arial"/>
                <a:cs typeface="Arial"/>
              </a:rPr>
              <a:t>СТАТУС ПРОЕКТА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9854DE-3EA3-4A7F-893E-53243444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Все вычислительные этапы pilot завершены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1EE050-4820-4DED-92CF-EAB6BD426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049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F36306-567E-4148-A8A6-2AD2D087B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3708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3708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C0C251-DDAA-4E8E-BB16-BF461180F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76550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DDE4E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6018BA-7147-44D3-BBDC-2E519EE5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6700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06B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52C45B-8799-44BA-9AAB-983D126C6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714625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54D027-5C84-4940-B79D-34A37903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050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2A06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A06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87CEF3-6DAF-40B7-9E47-B7E22B0B9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76600"/>
            <a:ext cx="1447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Датасет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7D1956-4864-4278-B487-81F0E39D8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24300"/>
            <a:ext cx="12192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8F5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C866B2-1220-4660-91F6-832D37BE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43350"/>
            <a:ext cx="1028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2A06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2A06B"/>
                </a:solidFill>
                <a:latin typeface="Arial"/>
                <a:ea typeface="Arial"/>
                <a:cs typeface="Arial"/>
              </a:rPr>
              <a:t>готово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855A1B-FF66-4241-AE6D-99A480B4A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6700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06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FC99AB-BA10-4316-9467-97ADE8AD3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714625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F895ED-BC0C-44DA-80F2-7B3816D1B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9050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2A06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A06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4BB4A1-4B1C-4589-BFAF-D27652A25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276600"/>
            <a:ext cx="1447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5400 ответов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32B70B-0C1F-4B8D-9DD7-2CFF20078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924300"/>
            <a:ext cx="12192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8F5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0710EA-4BDA-493B-9113-3064DA88B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43350"/>
            <a:ext cx="1028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2A06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2A06B"/>
                </a:solidFill>
                <a:latin typeface="Arial"/>
                <a:ea typeface="Arial"/>
                <a:cs typeface="Arial"/>
              </a:rPr>
              <a:t>готово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38482A-83B1-47FA-9A66-599AC823C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6700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06B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50E95B-7D0C-4F23-AC7B-9BFCE1F05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714625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F88E04-A05D-41A6-BCC3-E8DF8D02D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9050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2A06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A06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B03684-9D21-49D9-8F5F-8208E9C27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276600"/>
            <a:ext cx="1447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Factual labels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4F9D0C-8728-44FA-B6C9-8FDA761B4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24300"/>
            <a:ext cx="12192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8F5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7FCF56-3ACF-4129-B06F-D55987EF5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943350"/>
            <a:ext cx="1028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2A06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2A06B"/>
                </a:solidFill>
                <a:latin typeface="Arial"/>
                <a:ea typeface="Arial"/>
                <a:cs typeface="Arial"/>
              </a:rPr>
              <a:t>готово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317139-C82E-45B1-8BC4-204D7647F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6700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06B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80743E-03D2-44B0-9960-9D5267C25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2714625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5D3628-0F6F-4DBD-B655-9B2A6DF5A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050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2A06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A06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8C1C027-70C5-4DE0-845A-93A3FC5E4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276600"/>
            <a:ext cx="1447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Semantic v4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007E5A1-15AF-490E-BBE8-45B753FC7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924300"/>
            <a:ext cx="12192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8F5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F824B6B-C1A7-4BDC-89AF-2A6955998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43350"/>
            <a:ext cx="1028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2A06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2A06B"/>
                </a:solidFill>
                <a:latin typeface="Arial"/>
                <a:ea typeface="Arial"/>
                <a:cs typeface="Arial"/>
              </a:rPr>
              <a:t>866/866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81ACF48-7EED-4979-88C3-AD03F616D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66700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06B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10351E-30AB-43DC-9957-217ACFC82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2714625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5096B33-836B-4464-B091-3B55FF7C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9050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2A06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A06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6D9ADA5-B1CE-425A-94A1-8CCC0371A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276600"/>
            <a:ext cx="1447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Модели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F64573D-2050-4E79-8589-30F805949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924300"/>
            <a:ext cx="12192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8F5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9D3334-A971-473D-8748-2875E734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943350"/>
            <a:ext cx="1028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2A06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2A06B"/>
                </a:solidFill>
                <a:latin typeface="Arial"/>
                <a:ea typeface="Arial"/>
                <a:cs typeface="Arial"/>
              </a:rPr>
              <a:t>готово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721B559-E97D-4750-9CB7-1A3D80A02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06B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E270A56-50E9-40F0-B3C2-494C05C77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2714625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7087087-2B9E-4EE5-8988-04323B100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19050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2A06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A06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DE60635-B328-4D97-8DC9-A32D7E0AC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276600"/>
            <a:ext cx="1447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Locked test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8071DDA-CC9E-4010-A57C-5ECC4798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924300"/>
            <a:ext cx="12192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8F5"/>
          </a:solidFill>
          <a:ln xmlns:a="http://schemas.openxmlformats.org/drawingml/2006/main" w="0">
            <a:noFill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B03145B-2FFB-4F3A-9D44-A61D8634D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943350"/>
            <a:ext cx="1028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2A06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2A06B"/>
                </a:solidFill>
                <a:latin typeface="Arial"/>
                <a:ea typeface="Arial"/>
                <a:cs typeface="Arial"/>
              </a:rPr>
              <a:t>готово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C7622AF-BADF-4535-B27B-B98BD2531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038725"/>
            <a:ext cx="8801100" cy="781050"/>
          </a:xfrm>
          <a:prstGeom xmlns:a="http://schemas.openxmlformats.org/drawingml/2006/main" prst="roundRect">
            <a:avLst>
              <a:gd name="adj" fmla="val 219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BEFEBEC-1CAE-4D6E-A29F-F539EB1CD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219700"/>
            <a:ext cx="1962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F6B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F6BFF"/>
                </a:solidFill>
                <a:latin typeface="Arial"/>
                <a:ea typeface="Arial"/>
                <a:cs typeface="Arial"/>
              </a:rPr>
              <a:t>Критерий завершения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053B61C-326A-4C7A-A186-E6F3F954C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5162550"/>
            <a:ext cx="609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35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AUROC / AUPRC / ECE и bootstrap CI на заранее закрытом тесте</a:t>
            </a:r>
          </a:p>
        </p:txBody>
      </p:sp>
    </p:spTree>
    <p:extLst>
      <p:ext uri="{BB962C8B-B14F-4D97-AF65-F5344CB8AC3E}">
        <p14:creationId xmlns:p14="http://schemas.microsoft.com/office/powerpoint/2010/main" val="7181041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8163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229D4AE-351B-4BCE-A100-3BBC7E0DC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1A0B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91A0BE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C20261-C318-4DBA-98D3-03E212D3B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305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B3D8F6-CCC1-4251-9A3B-08F2810A0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85800"/>
            <a:ext cx="876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EC4B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EC4B6"/>
                </a:solidFill>
                <a:latin typeface="Arial"/>
                <a:ea typeface="Arial"/>
                <a:cs typeface="Arial"/>
              </a:rPr>
              <a:t>ВЫВОД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46A14C-0F4B-4934-BBAE-840BA6AF8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AUROC 0,879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46BBC0-2748-4DCF-A818-E086FE65C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C6D3EC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C6D3EC"/>
                </a:solidFill>
                <a:latin typeface="Arial"/>
                <a:ea typeface="Arial"/>
                <a:cs typeface="Arial"/>
              </a:rPr>
              <a:t>на заранее закрытом test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96C5A6-BC36-4904-98B8-87100A48B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8436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39FFE1-7CB5-4FE8-8055-C06905C3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1714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EC4B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EC4B6"/>
                </a:solidFill>
                <a:latin typeface="Arial"/>
                <a:ea typeface="Arial"/>
                <a:cs typeface="Arial"/>
              </a:rPr>
              <a:t>+0,038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33E0AB-FBFB-4EF5-AC91-A4EEEFDDB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1908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ΔAUROC к static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831BD4-CE48-4BAD-9B6B-99A14B7CF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24325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BF4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BF47"/>
                </a:solidFill>
                <a:latin typeface="Arial"/>
                <a:ea typeface="Arial"/>
                <a:cs typeface="Arial"/>
              </a:rPr>
              <a:t>Практический смысл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49F178-F422-41DE-895A-EACE99F4E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86275"/>
            <a:ext cx="5334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риск направляет ответы</a:t>
            </a:r>
          </a:p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на приоритетную проверку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055E39-1CEA-4B40-A7FA-3C89E7B96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895350"/>
            <a:ext cx="4610100" cy="4552950"/>
          </a:xfrm>
          <a:prstGeom xmlns:a="http://schemas.openxmlformats.org/drawingml/2006/main" prst="roundRect">
            <a:avLst>
              <a:gd name="adj" fmla="val 5858"/>
            </a:avLst>
          </a:prstGeom>
          <a:solidFill xmlns:a="http://schemas.openxmlformats.org/drawingml/2006/main">
            <a:srgbClr val="10274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502A9B-32D9-47EB-BFDB-F05377038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257300"/>
            <a:ext cx="3848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773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EC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EC4B6"/>
                </a:solidFill>
                <a:latin typeface="Arial"/>
                <a:ea typeface="Arial"/>
                <a:cs typeface="Arial"/>
              </a:rPr>
              <a:t>Что можно защищать уже сейчас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7CED74-6F20-4147-A761-87E96E399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5262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70B464-E6A4-44D2-9E9C-823B8D19E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000250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069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B66A94-918C-4F36-AB34-E0448BD9C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9335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Результат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AD1171-C386-4FC6-A9CE-DA36D3895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228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FC0D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FC0DF"/>
                </a:solidFill>
                <a:latin typeface="Arial"/>
                <a:ea typeface="Arial"/>
                <a:cs typeface="Arial"/>
              </a:rPr>
              <a:t>95% CI: 0,817–0,934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ED43DB-7DD9-4A42-9C31-5C939580B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9082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C3DD6F-1DB9-4EBF-8BCA-EA817E8F4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38450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069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BC3972-7BC7-4EFC-9A50-DC38A7229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7717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Масштаб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A8E76D-DE29-44A1-A2E8-483259B89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067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FC0D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FC0DF"/>
                </a:solidFill>
                <a:latin typeface="Arial"/>
                <a:ea typeface="Arial"/>
                <a:cs typeface="Arial"/>
              </a:rPr>
              <a:t>832 feature cases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5C57E8-D6FD-44CD-B634-0EA16699B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2902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9D9463-0AD5-4503-91EB-0C393D767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676650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069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3E33F9-20F5-43C0-8BC8-AA5FE6C90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6099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Ограничение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2D73F2-CFE0-4882-A908-D24DECBB3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9052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FC0D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FC0DF"/>
                </a:solidFill>
                <a:latin typeface="Arial"/>
                <a:ea typeface="Arial"/>
                <a:cs typeface="Arial"/>
              </a:rPr>
              <a:t>recall при пороге: 0,333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68715F-A7B4-4C07-966A-F7CE88DC2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876925"/>
            <a:ext cx="46101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765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C6D3E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6D3EC"/>
                </a:solidFill>
                <a:latin typeface="Arial"/>
                <a:ea typeface="Arial"/>
                <a:cs typeface="Arial"/>
              </a:rPr>
              <a:t>Следующий шаг: независимая human validation semantic judge (200 cases).</a:t>
            </a:r>
          </a:p>
        </p:txBody>
      </p:sp>
    </p:spTree>
    <p:extLst>
      <p:ext uri="{BB962C8B-B14F-4D97-AF65-F5344CB8AC3E}">
        <p14:creationId xmlns:p14="http://schemas.microsoft.com/office/powerpoint/2010/main" val="15764409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2026-09-15T06:24:39.6610000Z</dcterms:created>
  <dcterms:modified xsi:type="dcterms:W3CDTF">2026-09-15T06:24:39.6610000Z</dcterms:modified>
</coreProperties>
</file>